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57" r:id="rId3"/>
    <p:sldId id="258" r:id="rId4"/>
    <p:sldId id="265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240"/>
    <a:srgbClr val="1A365D"/>
    <a:srgbClr val="2DD4BF"/>
    <a:srgbClr val="FFFFFF"/>
    <a:srgbClr val="0D9488"/>
    <a:srgbClr val="1B6B5A"/>
    <a:srgbClr val="273C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1"/>
  </p:normalViewPr>
  <p:slideViewPr>
    <p:cSldViewPr snapToGrid="0">
      <p:cViewPr varScale="1">
        <p:scale>
          <a:sx n="84" d="100"/>
          <a:sy n="84" d="100"/>
        </p:scale>
        <p:origin x="56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B9730-C9F6-4FF6-8B50-FCF72AE02E3F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F8823-AA34-41D4-A511-4AA621DE4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025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93CC-52ED-48C6-B4FB-A900E7E71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B921D-333D-50CF-2B5F-50703EA27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B6255-C732-731A-6D5D-524C8FAC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5CA-C56E-4B79-B345-6747DECA69D6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70FFB-9FFF-C54D-CB92-DD7C76B1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BF83A-EEAB-290E-1520-6AC01A1D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4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F3DE-B59B-D468-9D80-18B68492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6FB1B-46A5-EF58-62EF-4EE19809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DC524-2CC0-2C3B-468E-C00BAB0B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752C-4AF0-4EE9-85A1-B21DBD4BB89D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48345-456C-AA05-A515-6BBBE707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10BAF-1C8D-4F88-EE18-B453A45B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83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5C42-DE78-53DD-136F-59150D2C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87743-2B36-0276-8A03-14CA76D61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978D6-BCCB-1D2C-1000-2F874163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764F-6140-477F-A454-3F3D34240203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3F681-E556-307C-D6ED-CAF356FC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273AE-B717-C02D-3B1E-4E52D915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19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74996-C289-389A-E1BF-593A9F9A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F42F4-E278-4791-D11E-FFDB59BAC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02B1C-B5A0-2501-9653-E3C494067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80B07-51FA-8E42-5C99-789AAE47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03EA9-0FE1-428E-9BF1-E73FB25868B8}" type="datetime1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60E67-BCB4-0616-FF48-767B266E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220C6-19D8-2B09-1A2C-5F9BBEDB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9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3533-9A0C-90D5-9AE1-7255BA0C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67A3E-DC49-CC48-9A4E-8117B9F7A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AB0ED-88D6-23A0-B987-115360EAB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FF49D-ED16-AD66-B8C0-AFE8F7F50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457AC-A7E4-0AE6-ED14-694506636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65680-DD8E-F4B6-48D6-6204F84B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54DA-81CA-4C34-B4B9-ADBF13CF9A2F}" type="datetime1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29BC8F-3B36-BE43-ECE4-CB51B9A4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0264F5-9736-4798-3017-0475404D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2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6B4C6-CB9C-7951-EC6A-6DAAFA4E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F9303-4DB1-4B53-A9FC-C5CD38CA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EAE5-D506-44E3-BB60-DF7895F20BA2}" type="datetime1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F2362-664B-0C06-E5D4-75987F63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88BF8-5054-9233-20DB-F8BEDF49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2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FC4A0-0668-BC43-F708-FAFB42E4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60259-960B-47C1-AF74-DCE1C1EA7164}" type="datetime1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A49F3-5429-910B-6CFD-64AADCD6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F0B88-2976-620B-D8A7-6DE3CEB2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61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6615-122C-071B-9D07-CB565257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D6A46-61CB-D8FA-5931-66EA08FF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4B0D0-3954-D9F2-C44D-74CEF4DD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C5148-B824-70C1-8C2E-8D337459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A713-0448-4F63-9C33-ED8C7BB35085}" type="datetime1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86C04-AE0C-1178-E2BF-1CB11861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E7EE5-815C-5D97-9429-D127432B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947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379A-7620-BB0F-FDFF-5F9F916F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450FC-E7A1-427A-25DD-8CFD6E6BA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C33BA-FB99-F801-ECB9-00DD7F2F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79DE2-603C-C4A3-DCDE-95501EBC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E8E8-5B35-4CF3-A0F2-3702D3D28B0C}" type="datetime1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93BAF-054D-5120-C069-20445382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A7752-D2C5-1C0F-0B4C-0B60089A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9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930B-7FC8-2C11-E7AC-DE704263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F5B1D-0F8B-9CDD-59CF-F7ADA2CE2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2378D-FF98-B657-2A71-2A5ADFD3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3E3C-862D-4834-9AEC-9FAE86CCA9D4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D4ECC-19A9-49D1-E9E2-0C3CBFD7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E46F1-6445-82E9-D8EA-08312C82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8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A7C89-8CE2-5D35-3495-047CA3FC5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9D066-3587-2D12-A5F5-A7C3F68C4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8E5C5-6769-9126-2E0F-3FB93300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694A-4CD2-435A-9C19-498AACE9B7CE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6B0E7-5DF9-11F1-3B40-72CF29CE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C463-1A33-4D06-A923-EEF0DFFD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87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A1504-9D04-CA0B-0E4B-102DECCD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E0B7B-794B-93E1-8EA3-9BAD67048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2337F-45D4-4479-7099-024B6F16E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A840D-BDC6-494C-91E1-A142606BF42F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BFC6F-C109-61BA-DCDD-A4026C5E7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14C3E-C350-8990-463F-4B8085837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07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2.pn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BB20B-F698-9029-3C89-1809ECA9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C78AD1F-4F7B-81CC-FEBE-4670D5A43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05ADC-EBCA-9F88-FC1E-077C36C3E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E365C-4DAD-96E1-BD5C-0EE3EAD6BF1B}"/>
              </a:ext>
            </a:extLst>
          </p:cNvPr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Arial Rounded MT Bold" panose="020F0704030504030204" pitchFamily="34" charset="0"/>
              </a:rPr>
              <a:t>HYROX- AI Hybrid Warfare Intelligence System</a:t>
            </a:r>
            <a:endParaRPr lang="en-US" sz="3600" b="1" kern="1200" dirty="0">
              <a:solidFill>
                <a:schemeClr val="tx2"/>
              </a:solidFill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B70DC0-DEF5-82D2-84D3-5090BDF0D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0B99616-C896-F10A-6A37-6619B94F8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1DB4322-2DFB-A6A7-E968-ECB11ECE4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5A62EA-7B6B-AB02-6DA3-10823E7C5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9BCEA99-BAB3-D646-3C26-C6E0E5428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472C507D-9272-1AE0-5DF9-F12A9CB20E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C8108A-C924-47FE-071A-B6C1E0E3B382}"/>
              </a:ext>
            </a:extLst>
          </p:cNvPr>
          <p:cNvSpPr txBox="1"/>
          <p:nvPr/>
        </p:nvSpPr>
        <p:spPr>
          <a:xfrm>
            <a:off x="4329874" y="2646628"/>
            <a:ext cx="3712464" cy="8706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1600" dirty="0">
                <a:latin typeface="Arial Rounded MT Bold" panose="020F0704030504030204" pitchFamily="34" charset="0"/>
              </a:rPr>
              <a:t>Team Name: </a:t>
            </a:r>
            <a:r>
              <a:rPr lang="en-US" sz="1600" b="1" dirty="0">
                <a:latin typeface="Bahnschrift Light" panose="020B0502040204020203" pitchFamily="34" charset="0"/>
              </a:rPr>
              <a:t>I-DASH</a:t>
            </a:r>
          </a:p>
          <a:p>
            <a:pPr algn="ctr"/>
            <a:r>
              <a:rPr lang="en-US" sz="1600" dirty="0">
                <a:latin typeface="Arial Rounded MT Bold" panose="020F0704030504030204" pitchFamily="34" charset="0"/>
              </a:rPr>
              <a:t>Team ID: </a:t>
            </a:r>
            <a:r>
              <a:rPr lang="en-US" sz="1600" b="1" dirty="0">
                <a:latin typeface="Bahnschrift Light" panose="020B0502040204020203" pitchFamily="34" charset="0"/>
              </a:rPr>
              <a:t>AIIS164</a:t>
            </a:r>
          </a:p>
          <a:p>
            <a:pPr algn="ctr"/>
            <a:r>
              <a:rPr lang="en-US" sz="1600" dirty="0">
                <a:latin typeface="Arial Rounded MT Bold" panose="020F0704030504030204" pitchFamily="34" charset="0"/>
              </a:rPr>
              <a:t>Track</a:t>
            </a:r>
            <a:r>
              <a:rPr lang="en-US" sz="1600" b="1" dirty="0">
                <a:latin typeface="Arial Rounded MT Bold" panose="020F0704030504030204" pitchFamily="34" charset="0"/>
              </a:rPr>
              <a:t>: </a:t>
            </a:r>
            <a:r>
              <a:rPr lang="en-US" sz="1600" dirty="0">
                <a:latin typeface="Bahnschrift" panose="020B0502040204020203" pitchFamily="34" charset="0"/>
              </a:rPr>
              <a:t>AI &amp; Intelligent Systems (AIIS)</a:t>
            </a:r>
          </a:p>
          <a:p>
            <a:pPr algn="ctr"/>
            <a:endParaRPr lang="en-US" sz="1600" b="1" dirty="0">
              <a:latin typeface="Bahnschrift Light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57BA8-6A88-2C40-6D15-F60E248A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173917-5C1C-82AB-6142-EB886DC6E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858B04-B12F-1D0A-121A-346F95B99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504C547-3367-766C-837A-A78935C9A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5FD4B83-38EE-F5C8-A96F-D32BF29FD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009BB2-8F7B-D699-BD61-2727F0F20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3156E695-F4ED-A550-9B6B-36EEB0848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B0F3D4-715A-9B70-76F8-0B1A410BD936}"/>
              </a:ext>
            </a:extLst>
          </p:cNvPr>
          <p:cNvSpPr txBox="1"/>
          <p:nvPr/>
        </p:nvSpPr>
        <p:spPr>
          <a:xfrm>
            <a:off x="1453409" y="3827572"/>
            <a:ext cx="48183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Arial Rounded MT Bold" panose="020F0704030504030204" pitchFamily="34" charset="0"/>
              </a:rPr>
              <a:t>Team Members:</a:t>
            </a:r>
          </a:p>
          <a:p>
            <a:pPr algn="l"/>
            <a:endParaRPr lang="en-US" dirty="0">
              <a:latin typeface="Arial Rounded MT Bold" panose="020F0704030504030204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en-IN" dirty="0">
                <a:latin typeface="Bahnschrift Light" panose="020B0502040204020203" pitchFamily="34" charset="0"/>
              </a:rPr>
              <a:t>Ishita Sharma</a:t>
            </a:r>
          </a:p>
          <a:p>
            <a:pPr marL="342900" indent="-342900">
              <a:buFontTx/>
              <a:buAutoNum type="arabicPeriod"/>
            </a:pPr>
            <a:r>
              <a:rPr lang="en-IN" dirty="0">
                <a:latin typeface="Bahnschrift Light" panose="020B0502040204020203" pitchFamily="34" charset="0"/>
              </a:rPr>
              <a:t>Amit Kumar Singh </a:t>
            </a:r>
          </a:p>
          <a:p>
            <a:pPr marL="342900" indent="-342900" algn="l">
              <a:buAutoNum type="arabicPeriod"/>
            </a:pPr>
            <a:r>
              <a:rPr lang="en-IN" dirty="0">
                <a:latin typeface="Bahnschrift Light" panose="020B0502040204020203" pitchFamily="34" charset="0"/>
              </a:rPr>
              <a:t>Divyam Gupta </a:t>
            </a:r>
          </a:p>
          <a:p>
            <a:pPr marL="342900" indent="-342900" algn="l">
              <a:buAutoNum type="arabicPeriod"/>
            </a:pPr>
            <a:r>
              <a:rPr lang="en-IN" dirty="0">
                <a:latin typeface="Bahnschrift Light" panose="020B0502040204020203" pitchFamily="34" charset="0"/>
              </a:rPr>
              <a:t>Harshit Srivastava</a:t>
            </a:r>
          </a:p>
          <a:p>
            <a:pPr algn="l"/>
            <a:r>
              <a:rPr lang="en-IN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478AD1-07C6-3DA2-6A83-4B0115C1054B}"/>
              </a:ext>
            </a:extLst>
          </p:cNvPr>
          <p:cNvSpPr txBox="1"/>
          <p:nvPr/>
        </p:nvSpPr>
        <p:spPr>
          <a:xfrm>
            <a:off x="7572015" y="3827572"/>
            <a:ext cx="3712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Name of Institution:</a:t>
            </a:r>
          </a:p>
          <a:p>
            <a:endParaRPr lang="en-IN" dirty="0">
              <a:latin typeface="Arial Rounded MT Bold" panose="020F0704030504030204" pitchFamily="34" charset="0"/>
            </a:endParaRPr>
          </a:p>
          <a:p>
            <a:r>
              <a:rPr lang="en-IN" dirty="0">
                <a:latin typeface="Bahnschrift Light" panose="020B0502040204020203" pitchFamily="34" charset="0"/>
              </a:rPr>
              <a:t>Dr. K. N. Modi Institute of Engineering and Technology, </a:t>
            </a:r>
          </a:p>
          <a:p>
            <a:r>
              <a:rPr lang="en-IN" dirty="0">
                <a:latin typeface="Bahnschrift Light" panose="020B0502040204020203" pitchFamily="34" charset="0"/>
              </a:rPr>
              <a:t>Modinagar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1F383B7-8951-0096-DB8C-DA69BF9D8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939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7C1B8-6662-5502-4089-9DEA9AE8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06C71-BB9E-D39E-2E01-6947D286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2</a:t>
            </a:fld>
            <a:r>
              <a:rPr lang="en-IN" dirty="0"/>
              <a:t> W</a:t>
            </a:r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5F4F79DF-9767-E5A8-8AF3-F6335318A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57521C2D-0A12-0BE0-D27F-A64EC882E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33C47-0227-5277-1FFA-57C12A05F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EBEFD-2238-7C2F-DF28-B09B2A460C30}"/>
              </a:ext>
            </a:extLst>
          </p:cNvPr>
          <p:cNvSpPr txBox="1"/>
          <p:nvPr/>
        </p:nvSpPr>
        <p:spPr>
          <a:xfrm>
            <a:off x="4171901" y="367607"/>
            <a:ext cx="3844144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latin typeface="Arial Rounded MT Bold" panose="020F0704030504030204" pitchFamily="34" charset="0"/>
                <a:ea typeface="+mj-ea"/>
                <a:cs typeface="+mj-cs"/>
              </a:rPr>
              <a:t>Problem Statement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1F4149-52B1-AB05-4DBF-9B5E32861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9" name="Freeform: Shape 20">
              <a:extLst>
                <a:ext uri="{FF2B5EF4-FFF2-40B4-BE49-F238E27FC236}">
                  <a16:creationId xmlns:a16="http://schemas.microsoft.com/office/drawing/2014/main" id="{C4F8C0D9-4C65-56AE-4144-C9CD551DE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21">
              <a:extLst>
                <a:ext uri="{FF2B5EF4-FFF2-40B4-BE49-F238E27FC236}">
                  <a16:creationId xmlns:a16="http://schemas.microsoft.com/office/drawing/2014/main" id="{05478CF4-30DD-6522-6898-A1FBC9668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22">
              <a:extLst>
                <a:ext uri="{FF2B5EF4-FFF2-40B4-BE49-F238E27FC236}">
                  <a16:creationId xmlns:a16="http://schemas.microsoft.com/office/drawing/2014/main" id="{EC383C5F-8D6C-0C91-7F35-C78C36895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23">
              <a:extLst>
                <a:ext uri="{FF2B5EF4-FFF2-40B4-BE49-F238E27FC236}">
                  <a16:creationId xmlns:a16="http://schemas.microsoft.com/office/drawing/2014/main" id="{2AE493C0-FED7-A378-B4F2-739979AB1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17FA03F5-F4BF-E184-6040-856156AE1C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8CA6072C-462B-7E98-EF93-005F337ED60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5E4D8B-36E6-F1FE-5E67-E097BFFEC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7" name="Freeform: Shape 26">
              <a:extLst>
                <a:ext uri="{FF2B5EF4-FFF2-40B4-BE49-F238E27FC236}">
                  <a16:creationId xmlns:a16="http://schemas.microsoft.com/office/drawing/2014/main" id="{194A745E-CF17-8242-AAC1-CFD911AD4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27">
              <a:extLst>
                <a:ext uri="{FF2B5EF4-FFF2-40B4-BE49-F238E27FC236}">
                  <a16:creationId xmlns:a16="http://schemas.microsoft.com/office/drawing/2014/main" id="{0B68D38B-937C-ADE3-3B5F-1BBD3AD71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id="{036A3A8D-E06A-449C-6C90-F84B9E8A2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: Shape 29">
              <a:extLst>
                <a:ext uri="{FF2B5EF4-FFF2-40B4-BE49-F238E27FC236}">
                  <a16:creationId xmlns:a16="http://schemas.microsoft.com/office/drawing/2014/main" id="{38AF1577-067B-B497-7804-C17FA4C22F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Picture 20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5C19E2A6-1141-C824-F2BF-D2BFCF09C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9B55570-21C8-A148-5A2B-CE04A98E1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81" y="1763568"/>
            <a:ext cx="11750438" cy="481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151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E274-C627-E80A-CF40-A772916C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B5FD9-1F5F-5F84-88D9-A72F013C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3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1881C505-F0BD-25E8-FD3B-3295A5E318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617EDC7-637D-2183-3E37-C6BECCCACC9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409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E7E5F9-EB5C-2C3D-7B75-4D4DDE0494D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3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B683A6EE-89A4-6714-8511-0ED76F47C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7A484D-D11F-0B17-F111-F76FB0BE0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A39220-2E5E-9225-03C7-7D31CE8FE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091E1-2002-C3EF-AD14-30B2F7142842}"/>
              </a:ext>
            </a:extLst>
          </p:cNvPr>
          <p:cNvSpPr txBox="1"/>
          <p:nvPr/>
        </p:nvSpPr>
        <p:spPr>
          <a:xfrm>
            <a:off x="-32527" y="721048"/>
            <a:ext cx="12188445" cy="1592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latin typeface="Arial Rounded MT Bold" panose="020F0704030504030204" pitchFamily="34" charset="0"/>
                <a:ea typeface="+mj-ea"/>
                <a:cs typeface="+mj-cs"/>
              </a:rPr>
              <a:t>Proposed Solution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1F2F74-3A1F-1FC4-F4D1-EDAA57D68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0F18D0D6-2A36-D31D-D9D1-5A6DF35D5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DC2468D4-3664-2D33-9388-48C1EEA50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FD6F78CC-57EB-00F3-78A1-5BE0F030D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24639984-D9DD-7D44-7846-ED71B4598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B6E4A9D6-5D70-4F8A-0423-C0154E804D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B48891F8-A067-286D-FFC5-F283B06FA60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7BD122-45D1-5D24-39BA-6BA0631D3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A95D2445-22C7-5060-1017-16E390802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0492B89D-0873-485F-2316-F176A209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229C523E-42B0-8B62-1C8A-756271BAD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C36ADEC2-9229-4261-1704-0441B691B5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2ADC4BFE-1AB8-DA1A-99B3-25B4C716E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57F18794-0D03-9EAA-4DD1-A01E22B65BEF}"/>
              </a:ext>
            </a:extLst>
          </p:cNvPr>
          <p:cNvGrpSpPr/>
          <p:nvPr/>
        </p:nvGrpSpPr>
        <p:grpSpPr>
          <a:xfrm>
            <a:off x="388124" y="4293090"/>
            <a:ext cx="11415446" cy="2176607"/>
            <a:chOff x="103277" y="4125710"/>
            <a:chExt cx="11992511" cy="215207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0A17F54-8C63-A605-B457-C5AE205AAE1C}"/>
                </a:ext>
              </a:extLst>
            </p:cNvPr>
            <p:cNvGrpSpPr/>
            <p:nvPr/>
          </p:nvGrpSpPr>
          <p:grpSpPr>
            <a:xfrm>
              <a:off x="103277" y="4125710"/>
              <a:ext cx="3884832" cy="2129396"/>
              <a:chOff x="103277" y="4609549"/>
              <a:chExt cx="3884832" cy="2129396"/>
            </a:xfrm>
          </p:grpSpPr>
          <p:sp>
            <p:nvSpPr>
              <p:cNvPr id="145" name="Shape 48">
                <a:extLst>
                  <a:ext uri="{FF2B5EF4-FFF2-40B4-BE49-F238E27FC236}">
                    <a16:creationId xmlns:a16="http://schemas.microsoft.com/office/drawing/2014/main" id="{9425951D-6306-169A-95B2-D0124F053F45}"/>
                  </a:ext>
                </a:extLst>
              </p:cNvPr>
              <p:cNvSpPr/>
              <p:nvPr/>
            </p:nvSpPr>
            <p:spPr>
              <a:xfrm>
                <a:off x="103277" y="4609549"/>
                <a:ext cx="3884832" cy="2129396"/>
              </a:xfrm>
              <a:prstGeom prst="rect">
                <a:avLst/>
              </a:prstGeom>
              <a:gradFill flip="none" rotWithShape="1">
                <a:gsLst>
                  <a:gs pos="0">
                    <a:srgbClr val="0D9488">
                      <a:tint val="66000"/>
                      <a:satMod val="160000"/>
                    </a:srgbClr>
                  </a:gs>
                  <a:gs pos="50000">
                    <a:srgbClr val="0D9488">
                      <a:tint val="44500"/>
                      <a:satMod val="160000"/>
                    </a:srgbClr>
                  </a:gs>
                  <a:gs pos="100000">
                    <a:srgbClr val="0D9488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  <a:ln w="11430">
                <a:solidFill>
                  <a:srgbClr val="1B6B5A"/>
                </a:solidFill>
                <a:prstDash val="solid"/>
              </a:ln>
              <a:effectLst>
                <a:outerShdw blurRad="63500" dist="25400" dir="8100000" algn="bl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146" name="Shape 49">
                <a:extLst>
                  <a:ext uri="{FF2B5EF4-FFF2-40B4-BE49-F238E27FC236}">
                    <a16:creationId xmlns:a16="http://schemas.microsoft.com/office/drawing/2014/main" id="{01C549C1-9575-D1C3-DF1D-B40DDD7C6023}"/>
                  </a:ext>
                </a:extLst>
              </p:cNvPr>
              <p:cNvSpPr/>
              <p:nvPr/>
            </p:nvSpPr>
            <p:spPr>
              <a:xfrm>
                <a:off x="103277" y="4609549"/>
                <a:ext cx="104995" cy="2129396"/>
              </a:xfrm>
              <a:prstGeom prst="rect">
                <a:avLst/>
              </a:prstGeom>
              <a:solidFill>
                <a:srgbClr val="1A365D"/>
              </a:solidFill>
              <a:ln w="12700">
                <a:solidFill>
                  <a:srgbClr val="1B6B5A"/>
                </a:solidFill>
                <a:prstDash val="solid"/>
              </a:ln>
            </p:spPr>
          </p:sp>
          <p:sp>
            <p:nvSpPr>
              <p:cNvPr id="147" name="Shape 50">
                <a:extLst>
                  <a:ext uri="{FF2B5EF4-FFF2-40B4-BE49-F238E27FC236}">
                    <a16:creationId xmlns:a16="http://schemas.microsoft.com/office/drawing/2014/main" id="{F7A840E5-EF33-C247-EFF2-B418BF6567E9}"/>
                  </a:ext>
                </a:extLst>
              </p:cNvPr>
              <p:cNvSpPr/>
              <p:nvPr/>
            </p:nvSpPr>
            <p:spPr>
              <a:xfrm>
                <a:off x="287019" y="5292048"/>
                <a:ext cx="656221" cy="682499"/>
              </a:xfrm>
              <a:prstGeom prst="ellipse">
                <a:avLst/>
              </a:prstGeom>
              <a:solidFill>
                <a:srgbClr val="1A365D"/>
              </a:solidFill>
              <a:ln w="12700">
                <a:solidFill>
                  <a:srgbClr val="1A365D"/>
                </a:solidFill>
                <a:prstDash val="solid"/>
              </a:ln>
              <a:effectLst>
                <a:outerShdw blurRad="63500" dist="25400" dir="8100000" algn="bl" rotWithShape="0">
                  <a:srgbClr val="000000">
                    <a:alpha val="9000"/>
                  </a:srgbClr>
                </a:outerShdw>
              </a:effectLst>
            </p:spPr>
            <p:txBody>
              <a:bodyPr/>
              <a:lstStyle/>
              <a:p>
                <a:endParaRPr lang="en-IN" dirty="0"/>
              </a:p>
            </p:txBody>
          </p:sp>
          <p:pic>
            <p:nvPicPr>
              <p:cNvPr id="148" name="Image 6" descr="preencoded.png">
                <a:extLst>
                  <a:ext uri="{FF2B5EF4-FFF2-40B4-BE49-F238E27FC236}">
                    <a16:creationId xmlns:a16="http://schemas.microsoft.com/office/drawing/2014/main" id="{674686E9-4BEA-4349-71BE-2A7152ADEB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8577" y="5408073"/>
                <a:ext cx="433106" cy="450449"/>
              </a:xfrm>
              <a:prstGeom prst="rect">
                <a:avLst/>
              </a:prstGeom>
            </p:spPr>
          </p:pic>
          <p:sp>
            <p:nvSpPr>
              <p:cNvPr id="149" name="Text 51">
                <a:extLst>
                  <a:ext uri="{FF2B5EF4-FFF2-40B4-BE49-F238E27FC236}">
                    <a16:creationId xmlns:a16="http://schemas.microsoft.com/office/drawing/2014/main" id="{2623B323-3515-E266-A75A-4888B9175D19}"/>
                  </a:ext>
                </a:extLst>
              </p:cNvPr>
              <p:cNvSpPr/>
              <p:nvPr/>
            </p:nvSpPr>
            <p:spPr>
              <a:xfrm>
                <a:off x="1074485" y="4691449"/>
                <a:ext cx="2756130" cy="38219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A365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SOCINT</a:t>
                </a:r>
                <a:endParaRPr lang="en-US" sz="1600" dirty="0">
                  <a:solidFill>
                    <a:srgbClr val="1A365D"/>
                  </a:solidFill>
                </a:endParaRPr>
              </a:p>
            </p:txBody>
          </p:sp>
          <p:sp>
            <p:nvSpPr>
              <p:cNvPr id="150" name="Text 52">
                <a:extLst>
                  <a:ext uri="{FF2B5EF4-FFF2-40B4-BE49-F238E27FC236}">
                    <a16:creationId xmlns:a16="http://schemas.microsoft.com/office/drawing/2014/main" id="{A85DA7A4-E21E-3071-3B50-3DC43480CAA8}"/>
                  </a:ext>
                </a:extLst>
              </p:cNvPr>
              <p:cNvSpPr/>
              <p:nvPr/>
            </p:nvSpPr>
            <p:spPr>
              <a:xfrm>
                <a:off x="1065438" y="4945470"/>
                <a:ext cx="2756130" cy="30029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3D4F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Social Media Intelligence</a:t>
                </a:r>
                <a:endParaRPr lang="en-US" sz="1400" dirty="0"/>
              </a:p>
            </p:txBody>
          </p:sp>
          <p:sp>
            <p:nvSpPr>
              <p:cNvPr id="151" name="Shape 53">
                <a:extLst>
                  <a:ext uri="{FF2B5EF4-FFF2-40B4-BE49-F238E27FC236}">
                    <a16:creationId xmlns:a16="http://schemas.microsoft.com/office/drawing/2014/main" id="{110DBAF2-956A-76F8-5E1F-02D3966F077D}"/>
                  </a:ext>
                </a:extLst>
              </p:cNvPr>
              <p:cNvSpPr/>
              <p:nvPr/>
            </p:nvSpPr>
            <p:spPr>
              <a:xfrm>
                <a:off x="1056391" y="5219162"/>
                <a:ext cx="2756130" cy="272999"/>
              </a:xfrm>
              <a:prstGeom prst="rect">
                <a:avLst/>
              </a:prstGeom>
              <a:solidFill>
                <a:srgbClr val="1A365D"/>
              </a:solidFill>
              <a:ln w="12700">
                <a:solidFill>
                  <a:srgbClr val="1B6B5A"/>
                </a:solidFill>
                <a:prstDash val="solid"/>
              </a:ln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52" name="Text 54">
                <a:extLst>
                  <a:ext uri="{FF2B5EF4-FFF2-40B4-BE49-F238E27FC236}">
                    <a16:creationId xmlns:a16="http://schemas.microsoft.com/office/drawing/2014/main" id="{B6456679-559A-A8D4-0696-903E52C4CF27}"/>
                  </a:ext>
                </a:extLst>
              </p:cNvPr>
              <p:cNvSpPr/>
              <p:nvPr/>
            </p:nvSpPr>
            <p:spPr>
              <a:xfrm>
                <a:off x="1056391" y="5226413"/>
                <a:ext cx="2756130" cy="27299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BERT · Transformer · NLP</a:t>
                </a:r>
                <a:endParaRPr lang="en-US" sz="1600" dirty="0"/>
              </a:p>
            </p:txBody>
          </p:sp>
          <p:sp>
            <p:nvSpPr>
              <p:cNvPr id="153" name="Text 55">
                <a:extLst>
                  <a:ext uri="{FF2B5EF4-FFF2-40B4-BE49-F238E27FC236}">
                    <a16:creationId xmlns:a16="http://schemas.microsoft.com/office/drawing/2014/main" id="{701FCD58-ED05-578C-8464-6C44795AF164}"/>
                  </a:ext>
                </a:extLst>
              </p:cNvPr>
              <p:cNvSpPr/>
              <p:nvPr/>
            </p:nvSpPr>
            <p:spPr>
              <a:xfrm>
                <a:off x="1004051" y="5765853"/>
                <a:ext cx="2852687" cy="74392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IN" sz="1400" dirty="0"/>
                  <a:t>■ NLP headline analysis </a:t>
                </a:r>
              </a:p>
              <a:p>
                <a:r>
                  <a:rPr lang="en-IN" sz="1400" dirty="0"/>
                  <a:t>■ Narrative trend scoring </a:t>
                </a:r>
              </a:p>
              <a:p>
                <a:r>
                  <a:rPr lang="en-IN" sz="1400" dirty="0"/>
                  <a:t>■ Disinformation tagging </a:t>
                </a:r>
              </a:p>
              <a:p>
                <a:r>
                  <a:rPr lang="en-IN" sz="1400" dirty="0"/>
                  <a:t>■ Sentiment geofencing </a:t>
                </a:r>
              </a:p>
              <a:p>
                <a:r>
                  <a:rPr lang="en-IN" sz="1400" dirty="0"/>
                  <a:t>■ Influence-op detection </a:t>
                </a:r>
                <a:endParaRPr lang="en-US" sz="1300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8DA8B0D-7F6A-F564-DA0B-7720274C9DC9}"/>
                </a:ext>
              </a:extLst>
            </p:cNvPr>
            <p:cNvGrpSpPr/>
            <p:nvPr/>
          </p:nvGrpSpPr>
          <p:grpSpPr>
            <a:xfrm>
              <a:off x="4170190" y="4125710"/>
              <a:ext cx="3884831" cy="2152072"/>
              <a:chOff x="4170190" y="4609549"/>
              <a:chExt cx="3884831" cy="2152072"/>
            </a:xfrm>
          </p:grpSpPr>
          <p:sp>
            <p:nvSpPr>
              <p:cNvPr id="154" name="Shape 56">
                <a:extLst>
                  <a:ext uri="{FF2B5EF4-FFF2-40B4-BE49-F238E27FC236}">
                    <a16:creationId xmlns:a16="http://schemas.microsoft.com/office/drawing/2014/main" id="{C99C06C6-7B48-D5F6-FE39-008938ED0AF9}"/>
                  </a:ext>
                </a:extLst>
              </p:cNvPr>
              <p:cNvSpPr/>
              <p:nvPr/>
            </p:nvSpPr>
            <p:spPr>
              <a:xfrm>
                <a:off x="4170190" y="4609549"/>
                <a:ext cx="3884831" cy="2152072"/>
              </a:xfrm>
              <a:prstGeom prst="rect">
                <a:avLst/>
              </a:prstGeom>
              <a:gradFill flip="none" rotWithShape="1">
                <a:gsLst>
                  <a:gs pos="0">
                    <a:srgbClr val="0D9488">
                      <a:tint val="66000"/>
                      <a:satMod val="160000"/>
                    </a:srgbClr>
                  </a:gs>
                  <a:gs pos="50000">
                    <a:srgbClr val="0D9488">
                      <a:tint val="44500"/>
                      <a:satMod val="160000"/>
                    </a:srgbClr>
                  </a:gs>
                  <a:gs pos="100000">
                    <a:srgbClr val="0D9488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  <a:ln w="11430">
                <a:solidFill>
                  <a:schemeClr val="accent1"/>
                </a:solidFill>
                <a:prstDash val="solid"/>
              </a:ln>
              <a:effectLst>
                <a:outerShdw blurRad="63500" dist="25400" dir="8100000" algn="bl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155" name="Shape 57">
                <a:extLst>
                  <a:ext uri="{FF2B5EF4-FFF2-40B4-BE49-F238E27FC236}">
                    <a16:creationId xmlns:a16="http://schemas.microsoft.com/office/drawing/2014/main" id="{5442A5D0-1A24-273B-E45A-B7592E0A42BD}"/>
                  </a:ext>
                </a:extLst>
              </p:cNvPr>
              <p:cNvSpPr/>
              <p:nvPr/>
            </p:nvSpPr>
            <p:spPr>
              <a:xfrm>
                <a:off x="4170190" y="4609549"/>
                <a:ext cx="104995" cy="2152072"/>
              </a:xfrm>
              <a:prstGeom prst="rect">
                <a:avLst/>
              </a:prstGeom>
              <a:solidFill>
                <a:srgbClr val="1A365D"/>
              </a:solidFill>
              <a:ln w="12700">
                <a:solidFill>
                  <a:srgbClr val="1A365D"/>
                </a:solidFill>
                <a:prstDash val="solid"/>
              </a:ln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56" name="Shape 58">
                <a:extLst>
                  <a:ext uri="{FF2B5EF4-FFF2-40B4-BE49-F238E27FC236}">
                    <a16:creationId xmlns:a16="http://schemas.microsoft.com/office/drawing/2014/main" id="{14EC4CD7-C679-F54C-9EDD-71FAEB6C862E}"/>
                  </a:ext>
                </a:extLst>
              </p:cNvPr>
              <p:cNvSpPr/>
              <p:nvPr/>
            </p:nvSpPr>
            <p:spPr>
              <a:xfrm>
                <a:off x="4353932" y="5299316"/>
                <a:ext cx="656221" cy="689767"/>
              </a:xfrm>
              <a:prstGeom prst="ellipse">
                <a:avLst/>
              </a:prstGeom>
              <a:solidFill>
                <a:srgbClr val="1A365D"/>
              </a:solidFill>
              <a:ln w="12700">
                <a:solidFill>
                  <a:srgbClr val="1A365D"/>
                </a:solidFill>
                <a:prstDash val="solid"/>
              </a:ln>
              <a:effectLst>
                <a:outerShdw blurRad="63500" dist="25400" dir="8100000" algn="bl" rotWithShape="0">
                  <a:srgbClr val="000000">
                    <a:alpha val="9000"/>
                  </a:srgbClr>
                </a:outerShdw>
              </a:effectLst>
            </p:spPr>
            <p:txBody>
              <a:bodyPr/>
              <a:lstStyle/>
              <a:p>
                <a:endParaRPr lang="en-IN" dirty="0"/>
              </a:p>
            </p:txBody>
          </p:sp>
          <p:pic>
            <p:nvPicPr>
              <p:cNvPr id="157" name="Image 7" descr="preencoded.png">
                <a:extLst>
                  <a:ext uri="{FF2B5EF4-FFF2-40B4-BE49-F238E27FC236}">
                    <a16:creationId xmlns:a16="http://schemas.microsoft.com/office/drawing/2014/main" id="{CFB34A6D-80E8-E296-06E1-7641033999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65490" y="5416576"/>
                <a:ext cx="433106" cy="455246"/>
              </a:xfrm>
              <a:prstGeom prst="rect">
                <a:avLst/>
              </a:prstGeom>
            </p:spPr>
          </p:pic>
          <p:sp>
            <p:nvSpPr>
              <p:cNvPr id="158" name="Text 59">
                <a:extLst>
                  <a:ext uri="{FF2B5EF4-FFF2-40B4-BE49-F238E27FC236}">
                    <a16:creationId xmlns:a16="http://schemas.microsoft.com/office/drawing/2014/main" id="{CAFC5452-E14E-27C0-8175-F1D1A20DEDA9}"/>
                  </a:ext>
                </a:extLst>
              </p:cNvPr>
              <p:cNvSpPr/>
              <p:nvPr/>
            </p:nvSpPr>
            <p:spPr>
              <a:xfrm>
                <a:off x="5141398" y="4692321"/>
                <a:ext cx="2756130" cy="3862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A365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CYBINT</a:t>
                </a:r>
                <a:endParaRPr lang="en-US" sz="1600" dirty="0">
                  <a:solidFill>
                    <a:srgbClr val="1A365D"/>
                  </a:solidFill>
                </a:endParaRPr>
              </a:p>
            </p:txBody>
          </p:sp>
          <p:sp>
            <p:nvSpPr>
              <p:cNvPr id="159" name="Text 60">
                <a:extLst>
                  <a:ext uri="{FF2B5EF4-FFF2-40B4-BE49-F238E27FC236}">
                    <a16:creationId xmlns:a16="http://schemas.microsoft.com/office/drawing/2014/main" id="{B9D0BD87-11A7-23AC-8770-CBABC77D214F}"/>
                  </a:ext>
                </a:extLst>
              </p:cNvPr>
              <p:cNvSpPr/>
              <p:nvPr/>
            </p:nvSpPr>
            <p:spPr>
              <a:xfrm>
                <a:off x="5132351" y="4930767"/>
                <a:ext cx="2756130" cy="3034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3D4F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Cyber Intelligence</a:t>
                </a:r>
                <a:endParaRPr lang="en-US" sz="1400" dirty="0"/>
              </a:p>
            </p:txBody>
          </p:sp>
          <p:sp>
            <p:nvSpPr>
              <p:cNvPr id="160" name="Shape 61">
                <a:extLst>
                  <a:ext uri="{FF2B5EF4-FFF2-40B4-BE49-F238E27FC236}">
                    <a16:creationId xmlns:a16="http://schemas.microsoft.com/office/drawing/2014/main" id="{7979A72A-D101-850E-E7A4-9FBFA15E8925}"/>
                  </a:ext>
                </a:extLst>
              </p:cNvPr>
              <p:cNvSpPr/>
              <p:nvPr/>
            </p:nvSpPr>
            <p:spPr>
              <a:xfrm>
                <a:off x="5141398" y="5248465"/>
                <a:ext cx="2756130" cy="275907"/>
              </a:xfrm>
              <a:prstGeom prst="rect">
                <a:avLst/>
              </a:prstGeom>
              <a:solidFill>
                <a:srgbClr val="C0392B"/>
              </a:solidFill>
              <a:ln w="12700">
                <a:solidFill>
                  <a:srgbClr val="C0392B"/>
                </a:solidFill>
                <a:prstDash val="solid"/>
              </a:ln>
            </p:spPr>
          </p:sp>
          <p:sp>
            <p:nvSpPr>
              <p:cNvPr id="161" name="Text 62">
                <a:extLst>
                  <a:ext uri="{FF2B5EF4-FFF2-40B4-BE49-F238E27FC236}">
                    <a16:creationId xmlns:a16="http://schemas.microsoft.com/office/drawing/2014/main" id="{18DBC8D5-67B5-0D28-DE77-4DED03FD9B8C}"/>
                  </a:ext>
                </a:extLst>
              </p:cNvPr>
              <p:cNvSpPr/>
              <p:nvPr/>
            </p:nvSpPr>
            <p:spPr>
              <a:xfrm>
                <a:off x="5141093" y="5226413"/>
                <a:ext cx="2772166" cy="303497"/>
              </a:xfrm>
              <a:prstGeom prst="rect">
                <a:avLst/>
              </a:prstGeom>
              <a:solidFill>
                <a:srgbClr val="1A365D"/>
              </a:solidFill>
              <a:ln>
                <a:solidFill>
                  <a:srgbClr val="1A365D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Isolation Forest · Autoencoder</a:t>
                </a:r>
                <a:endParaRPr lang="en-US" sz="1600" dirty="0"/>
              </a:p>
            </p:txBody>
          </p:sp>
          <p:sp>
            <p:nvSpPr>
              <p:cNvPr id="162" name="Text 63">
                <a:extLst>
                  <a:ext uri="{FF2B5EF4-FFF2-40B4-BE49-F238E27FC236}">
                    <a16:creationId xmlns:a16="http://schemas.microsoft.com/office/drawing/2014/main" id="{17E5CCAE-46EE-86B7-DF78-FE7481DB248F}"/>
                  </a:ext>
                </a:extLst>
              </p:cNvPr>
              <p:cNvSpPr/>
              <p:nvPr/>
            </p:nvSpPr>
            <p:spPr>
              <a:xfrm>
                <a:off x="5064026" y="5785249"/>
                <a:ext cx="2814960" cy="75589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IN" sz="1400" dirty="0"/>
                  <a:t>■ </a:t>
                </a:r>
                <a:r>
                  <a:rPr lang="en-IN" sz="1400" dirty="0" err="1"/>
                  <a:t>AbuseIPDB</a:t>
                </a:r>
                <a:r>
                  <a:rPr lang="en-IN" sz="1400" dirty="0"/>
                  <a:t> integration </a:t>
                </a:r>
              </a:p>
              <a:p>
                <a:r>
                  <a:rPr lang="en-IN" sz="1400" dirty="0"/>
                  <a:t>■ Malicious IP clustering</a:t>
                </a:r>
              </a:p>
              <a:p>
                <a:r>
                  <a:rPr lang="en-IN" sz="1400" dirty="0"/>
                  <a:t> ■ Attack-origin heatmaps </a:t>
                </a:r>
              </a:p>
              <a:p>
                <a:r>
                  <a:rPr lang="en-IN" sz="1400" dirty="0"/>
                  <a:t>■ TTPs fingerprinting </a:t>
                </a:r>
              </a:p>
              <a:p>
                <a:r>
                  <a:rPr lang="en-IN" sz="1400" dirty="0"/>
                  <a:t>■ CVE correlation engine</a:t>
                </a:r>
                <a:endParaRPr lang="en-US" sz="1400" dirty="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AD4E0AD-29B8-57FB-4F0A-5013D69FEF6F}"/>
                </a:ext>
              </a:extLst>
            </p:cNvPr>
            <p:cNvGrpSpPr/>
            <p:nvPr/>
          </p:nvGrpSpPr>
          <p:grpSpPr>
            <a:xfrm>
              <a:off x="8210957" y="4129407"/>
              <a:ext cx="3884831" cy="2129396"/>
              <a:chOff x="8210957" y="4613246"/>
              <a:chExt cx="3884831" cy="2129396"/>
            </a:xfrm>
          </p:grpSpPr>
          <p:sp>
            <p:nvSpPr>
              <p:cNvPr id="181" name="Shape 48">
                <a:extLst>
                  <a:ext uri="{FF2B5EF4-FFF2-40B4-BE49-F238E27FC236}">
                    <a16:creationId xmlns:a16="http://schemas.microsoft.com/office/drawing/2014/main" id="{479016CC-4276-6528-506C-6A1DDC9B91B1}"/>
                  </a:ext>
                </a:extLst>
              </p:cNvPr>
              <p:cNvSpPr/>
              <p:nvPr/>
            </p:nvSpPr>
            <p:spPr>
              <a:xfrm>
                <a:off x="8210957" y="4613246"/>
                <a:ext cx="3884831" cy="2129396"/>
              </a:xfrm>
              <a:prstGeom prst="rect">
                <a:avLst/>
              </a:prstGeom>
              <a:gradFill flip="none" rotWithShape="1">
                <a:gsLst>
                  <a:gs pos="0">
                    <a:srgbClr val="0D9488">
                      <a:tint val="66000"/>
                      <a:satMod val="160000"/>
                    </a:srgbClr>
                  </a:gs>
                  <a:gs pos="50000">
                    <a:srgbClr val="0D9488">
                      <a:tint val="44500"/>
                      <a:satMod val="160000"/>
                    </a:srgbClr>
                  </a:gs>
                  <a:gs pos="100000">
                    <a:srgbClr val="0D9488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  <a:ln w="11430">
                <a:solidFill>
                  <a:srgbClr val="1B6B5A"/>
                </a:solidFill>
                <a:prstDash val="solid"/>
              </a:ln>
              <a:effectLst>
                <a:outerShdw blurRad="63500" dist="25400" dir="8100000" algn="bl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182" name="Shape 49">
                <a:extLst>
                  <a:ext uri="{FF2B5EF4-FFF2-40B4-BE49-F238E27FC236}">
                    <a16:creationId xmlns:a16="http://schemas.microsoft.com/office/drawing/2014/main" id="{B61B2075-8B26-0E66-F105-E2C47F5A145D}"/>
                  </a:ext>
                </a:extLst>
              </p:cNvPr>
              <p:cNvSpPr/>
              <p:nvPr/>
            </p:nvSpPr>
            <p:spPr>
              <a:xfrm>
                <a:off x="8210957" y="4613246"/>
                <a:ext cx="104995" cy="2129396"/>
              </a:xfrm>
              <a:prstGeom prst="rect">
                <a:avLst/>
              </a:prstGeom>
              <a:solidFill>
                <a:srgbClr val="1A365D"/>
              </a:solidFill>
              <a:ln w="12700">
                <a:solidFill>
                  <a:srgbClr val="1B6B5A"/>
                </a:solidFill>
                <a:prstDash val="solid"/>
              </a:ln>
            </p:spPr>
          </p:sp>
          <p:sp>
            <p:nvSpPr>
              <p:cNvPr id="183" name="Shape 50">
                <a:extLst>
                  <a:ext uri="{FF2B5EF4-FFF2-40B4-BE49-F238E27FC236}">
                    <a16:creationId xmlns:a16="http://schemas.microsoft.com/office/drawing/2014/main" id="{1E5A1D91-DA5B-8E23-6A1E-63C1E7CD45FD}"/>
                  </a:ext>
                </a:extLst>
              </p:cNvPr>
              <p:cNvSpPr/>
              <p:nvPr/>
            </p:nvSpPr>
            <p:spPr>
              <a:xfrm>
                <a:off x="8394699" y="5295745"/>
                <a:ext cx="656221" cy="682499"/>
              </a:xfrm>
              <a:prstGeom prst="ellipse">
                <a:avLst/>
              </a:prstGeom>
              <a:solidFill>
                <a:srgbClr val="1A365D"/>
              </a:solidFill>
              <a:ln w="12700">
                <a:solidFill>
                  <a:srgbClr val="1B6B5A"/>
                </a:solidFill>
                <a:prstDash val="solid"/>
              </a:ln>
              <a:effectLst>
                <a:outerShdw blurRad="63500" dist="25400" dir="8100000" algn="bl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185" name="Text 51">
                <a:extLst>
                  <a:ext uri="{FF2B5EF4-FFF2-40B4-BE49-F238E27FC236}">
                    <a16:creationId xmlns:a16="http://schemas.microsoft.com/office/drawing/2014/main" id="{A87825A6-88DF-1F66-1D79-1CCAF4A0D520}"/>
                  </a:ext>
                </a:extLst>
              </p:cNvPr>
              <p:cNvSpPr/>
              <p:nvPr/>
            </p:nvSpPr>
            <p:spPr>
              <a:xfrm>
                <a:off x="9182165" y="4695146"/>
                <a:ext cx="2756130" cy="38219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365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GEOINT</a:t>
                </a:r>
                <a:endParaRPr lang="en-US" sz="1600" dirty="0">
                  <a:solidFill>
                    <a:srgbClr val="1A365D"/>
                  </a:solidFill>
                </a:endParaRPr>
              </a:p>
            </p:txBody>
          </p:sp>
          <p:sp>
            <p:nvSpPr>
              <p:cNvPr id="186" name="Text 52">
                <a:extLst>
                  <a:ext uri="{FF2B5EF4-FFF2-40B4-BE49-F238E27FC236}">
                    <a16:creationId xmlns:a16="http://schemas.microsoft.com/office/drawing/2014/main" id="{66E61062-9013-929C-A271-0649955D4217}"/>
                  </a:ext>
                </a:extLst>
              </p:cNvPr>
              <p:cNvSpPr/>
              <p:nvPr/>
            </p:nvSpPr>
            <p:spPr>
              <a:xfrm>
                <a:off x="9182165" y="4961859"/>
                <a:ext cx="2756130" cy="30029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3D4F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Geospatial Intelligence</a:t>
                </a:r>
                <a:endParaRPr lang="en-US" sz="1400" dirty="0"/>
              </a:p>
            </p:txBody>
          </p:sp>
          <p:sp>
            <p:nvSpPr>
              <p:cNvPr id="187" name="Shape 53">
                <a:extLst>
                  <a:ext uri="{FF2B5EF4-FFF2-40B4-BE49-F238E27FC236}">
                    <a16:creationId xmlns:a16="http://schemas.microsoft.com/office/drawing/2014/main" id="{488D1E5F-4CB5-5F25-2578-055A7742A3C1}"/>
                  </a:ext>
                </a:extLst>
              </p:cNvPr>
              <p:cNvSpPr/>
              <p:nvPr/>
            </p:nvSpPr>
            <p:spPr>
              <a:xfrm>
                <a:off x="9182165" y="5258927"/>
                <a:ext cx="2756130" cy="272999"/>
              </a:xfrm>
              <a:prstGeom prst="rect">
                <a:avLst/>
              </a:prstGeom>
              <a:solidFill>
                <a:srgbClr val="1A365D"/>
              </a:solidFill>
              <a:ln w="12700">
                <a:solidFill>
                  <a:srgbClr val="1B6B5A"/>
                </a:solidFill>
                <a:prstDash val="solid"/>
              </a:ln>
            </p:spPr>
          </p:sp>
          <p:sp>
            <p:nvSpPr>
              <p:cNvPr id="188" name="Text 54">
                <a:extLst>
                  <a:ext uri="{FF2B5EF4-FFF2-40B4-BE49-F238E27FC236}">
                    <a16:creationId xmlns:a16="http://schemas.microsoft.com/office/drawing/2014/main" id="{E85F8675-0A06-55E3-36E2-DC49CF888AF6}"/>
                  </a:ext>
                </a:extLst>
              </p:cNvPr>
              <p:cNvSpPr/>
              <p:nvPr/>
            </p:nvSpPr>
            <p:spPr>
              <a:xfrm>
                <a:off x="9241205" y="5258927"/>
                <a:ext cx="2638050" cy="2546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 err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XGBoost</a:t>
                </a: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Classifier · Spatial Clustering</a:t>
                </a:r>
                <a:endParaRPr lang="en-US" sz="1200" dirty="0"/>
              </a:p>
            </p:txBody>
          </p:sp>
          <p:sp>
            <p:nvSpPr>
              <p:cNvPr id="189" name="Text 55">
                <a:extLst>
                  <a:ext uri="{FF2B5EF4-FFF2-40B4-BE49-F238E27FC236}">
                    <a16:creationId xmlns:a16="http://schemas.microsoft.com/office/drawing/2014/main" id="{D4D6931C-EF80-E1E2-E2A5-6B1EDFA3DB9D}"/>
                  </a:ext>
                </a:extLst>
              </p:cNvPr>
              <p:cNvSpPr/>
              <p:nvPr/>
            </p:nvSpPr>
            <p:spPr>
              <a:xfrm>
                <a:off x="9111708" y="5763444"/>
                <a:ext cx="2852687" cy="78807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IN" sz="1400" dirty="0"/>
                  <a:t>■ Spatial clustering using </a:t>
                </a:r>
                <a:r>
                  <a:rPr lang="en-IN" sz="1400" dirty="0" err="1"/>
                  <a:t>BiLSTM</a:t>
                </a:r>
                <a:endParaRPr lang="en-IN" sz="1400" dirty="0"/>
              </a:p>
              <a:p>
                <a:r>
                  <a:rPr lang="en-IN" sz="1400" dirty="0"/>
                  <a:t>■ Anomaly zone mapping </a:t>
                </a:r>
              </a:p>
              <a:p>
                <a:r>
                  <a:rPr lang="en-IN" sz="1400" dirty="0"/>
                  <a:t>■ Incident concentration</a:t>
                </a:r>
              </a:p>
              <a:p>
                <a:r>
                  <a:rPr lang="en-IN" sz="1400" dirty="0"/>
                  <a:t>■ Cross-border patterns</a:t>
                </a:r>
              </a:p>
              <a:p>
                <a:r>
                  <a:rPr lang="en-IN" sz="1400" dirty="0"/>
                  <a:t>■ Satellite data-ready</a:t>
                </a:r>
                <a:endParaRPr lang="en-US" sz="1300" dirty="0"/>
              </a:p>
            </p:txBody>
          </p:sp>
        </p:grpSp>
        <p:pic>
          <p:nvPicPr>
            <p:cNvPr id="57" name="Graphic 56" descr="Marker with solid fill">
              <a:extLst>
                <a:ext uri="{FF2B5EF4-FFF2-40B4-BE49-F238E27FC236}">
                  <a16:creationId xmlns:a16="http://schemas.microsoft.com/office/drawing/2014/main" id="{80DC919B-3983-0C4F-2EF1-FAF926B3D3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391145" y="4818078"/>
              <a:ext cx="672630" cy="672630"/>
            </a:xfrm>
            <a:prstGeom prst="rect">
              <a:avLst/>
            </a:prstGeom>
          </p:spPr>
        </p:pic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1D2C0FFC-95DE-3BBA-1EF6-D9E019AD0376}"/>
              </a:ext>
            </a:extLst>
          </p:cNvPr>
          <p:cNvSpPr txBox="1"/>
          <p:nvPr/>
        </p:nvSpPr>
        <p:spPr>
          <a:xfrm>
            <a:off x="661692" y="1399490"/>
            <a:ext cx="110943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u="sng" dirty="0">
                <a:latin typeface="Arial Rounded MT Bold" panose="020F0704030504030204" pitchFamily="34" charset="0"/>
              </a:rPr>
              <a:t>INTELLIGENCE PROCESSING PIPELINE:-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709289E-B763-D9D5-3E11-AAC5CEC735AF}"/>
              </a:ext>
            </a:extLst>
          </p:cNvPr>
          <p:cNvGrpSpPr/>
          <p:nvPr/>
        </p:nvGrpSpPr>
        <p:grpSpPr>
          <a:xfrm>
            <a:off x="1042848" y="1975247"/>
            <a:ext cx="10197983" cy="1020119"/>
            <a:chOff x="597870" y="2078919"/>
            <a:chExt cx="11464379" cy="1284634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098C525-35A0-76C9-5498-EC8D7BC58281}"/>
                </a:ext>
              </a:extLst>
            </p:cNvPr>
            <p:cNvGrpSpPr/>
            <p:nvPr/>
          </p:nvGrpSpPr>
          <p:grpSpPr>
            <a:xfrm>
              <a:off x="597870" y="2078919"/>
              <a:ext cx="11464379" cy="1284634"/>
              <a:chOff x="642626" y="1915540"/>
              <a:chExt cx="11464379" cy="1284634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12F50B7C-6819-C436-55D8-B1BF516A79DD}"/>
                  </a:ext>
                </a:extLst>
              </p:cNvPr>
              <p:cNvGrpSpPr/>
              <p:nvPr/>
            </p:nvGrpSpPr>
            <p:grpSpPr>
              <a:xfrm>
                <a:off x="642626" y="1915540"/>
                <a:ext cx="11050604" cy="1227808"/>
                <a:chOff x="644136" y="1862278"/>
                <a:chExt cx="11050604" cy="1227808"/>
              </a:xfrm>
            </p:grpSpPr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EECBC900-A726-95D1-5435-B0AEC043380D}"/>
                    </a:ext>
                  </a:extLst>
                </p:cNvPr>
                <p:cNvSpPr/>
                <p:nvPr/>
              </p:nvSpPr>
              <p:spPr>
                <a:xfrm>
                  <a:off x="644136" y="1871795"/>
                  <a:ext cx="1713687" cy="1197283"/>
                </a:xfrm>
                <a:prstGeom prst="round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  <a:effectLst>
                  <a:outerShdw blurRad="107950" dist="12700" dir="5400000" algn="ctr">
                    <a:srgbClr val="000000"/>
                  </a:outerShdw>
                </a:effectLst>
                <a:scene3d>
                  <a:camera prst="orthographicFront">
                    <a:rot lat="0" lon="0" rev="0"/>
                  </a:camera>
                  <a:lightRig rig="soft" dir="t">
                    <a:rot lat="0" lon="0" rev="0"/>
                  </a:lightRig>
                </a:scene3d>
                <a:sp3d contourW="44450" prstMaterial="matte">
                  <a:bevelT w="63500" h="63500" prst="artDeco"/>
                  <a:contourClr>
                    <a:srgbClr val="FFFFFF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 dirty="0"/>
                    <a:t> </a:t>
                  </a:r>
                </a:p>
              </p:txBody>
            </p:sp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CCE6A21B-16F2-8BC0-2D29-BC6ECD0AAA51}"/>
                    </a:ext>
                  </a:extLst>
                </p:cNvPr>
                <p:cNvSpPr/>
                <p:nvPr/>
              </p:nvSpPr>
              <p:spPr>
                <a:xfrm>
                  <a:off x="9981053" y="1871794"/>
                  <a:ext cx="1713687" cy="1197283"/>
                </a:xfrm>
                <a:prstGeom prst="round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  <a:effectLst>
                  <a:outerShdw blurRad="107950" dist="12700" dir="5400000" algn="ctr">
                    <a:srgbClr val="000000"/>
                  </a:outerShdw>
                </a:effectLst>
                <a:scene3d>
                  <a:camera prst="orthographicFront">
                    <a:rot lat="0" lon="0" rev="0"/>
                  </a:camera>
                  <a:lightRig rig="soft" dir="t">
                    <a:rot lat="0" lon="0" rev="0"/>
                  </a:lightRig>
                </a:scene3d>
                <a:sp3d contourW="44450" prstMaterial="matte">
                  <a:bevelT w="63500" h="63500" prst="artDeco"/>
                  <a:contourClr>
                    <a:srgbClr val="FFFFFF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 dirty="0"/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B40F6EDE-770B-F703-BA67-E74149A8CD7C}"/>
                    </a:ext>
                  </a:extLst>
                </p:cNvPr>
                <p:cNvSpPr/>
                <p:nvPr/>
              </p:nvSpPr>
              <p:spPr>
                <a:xfrm>
                  <a:off x="7659162" y="1892803"/>
                  <a:ext cx="1713687" cy="1197283"/>
                </a:xfrm>
                <a:prstGeom prst="round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  <a:effectLst>
                  <a:outerShdw blurRad="107950" dist="12700" dir="5400000" algn="ctr">
                    <a:srgbClr val="000000"/>
                  </a:outerShdw>
                </a:effectLst>
                <a:scene3d>
                  <a:camera prst="orthographicFront">
                    <a:rot lat="0" lon="0" rev="0"/>
                  </a:camera>
                  <a:lightRig rig="soft" dir="t">
                    <a:rot lat="0" lon="0" rev="0"/>
                  </a:lightRig>
                </a:scene3d>
                <a:sp3d contourW="44450" prstMaterial="matte">
                  <a:bevelT w="63500" h="63500" prst="artDeco"/>
                  <a:contourClr>
                    <a:srgbClr val="FFFFFF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 dirty="0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A201946A-ECD6-110D-383E-0EB5B1FB9EE1}"/>
                    </a:ext>
                  </a:extLst>
                </p:cNvPr>
                <p:cNvSpPr/>
                <p:nvPr/>
              </p:nvSpPr>
              <p:spPr>
                <a:xfrm>
                  <a:off x="5340962" y="1862278"/>
                  <a:ext cx="1713687" cy="1197283"/>
                </a:xfrm>
                <a:prstGeom prst="round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  <a:effectLst>
                  <a:outerShdw blurRad="107950" dist="12700" dir="5400000" algn="ctr">
                    <a:srgbClr val="000000"/>
                  </a:outerShdw>
                </a:effectLst>
                <a:scene3d>
                  <a:camera prst="orthographicFront">
                    <a:rot lat="0" lon="0" rev="0"/>
                  </a:camera>
                  <a:lightRig rig="soft" dir="t">
                    <a:rot lat="0" lon="0" rev="0"/>
                  </a:lightRig>
                </a:scene3d>
                <a:sp3d contourW="44450" prstMaterial="matte">
                  <a:bevelT w="63500" h="63500" prst="artDeco"/>
                  <a:contourClr>
                    <a:srgbClr val="FFFFFF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 dirty="0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5A35F1B2-9699-AA6C-0539-3D68514A97CC}"/>
                    </a:ext>
                  </a:extLst>
                </p:cNvPr>
                <p:cNvSpPr/>
                <p:nvPr/>
              </p:nvSpPr>
              <p:spPr>
                <a:xfrm>
                  <a:off x="2998985" y="1862278"/>
                  <a:ext cx="1713687" cy="1197283"/>
                </a:xfrm>
                <a:prstGeom prst="round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  <a:effectLst>
                  <a:outerShdw blurRad="107950" dist="12700" dir="5400000" algn="ctr">
                    <a:srgbClr val="000000"/>
                  </a:outerShdw>
                </a:effectLst>
                <a:scene3d>
                  <a:camera prst="orthographicFront">
                    <a:rot lat="0" lon="0" rev="0"/>
                  </a:camera>
                  <a:lightRig rig="soft" dir="t">
                    <a:rot lat="0" lon="0" rev="0"/>
                  </a:lightRig>
                </a:scene3d>
                <a:sp3d contourW="44450" prstMaterial="matte">
                  <a:bevelT w="63500" h="63500" prst="artDeco"/>
                  <a:contourClr>
                    <a:srgbClr val="FFFFFF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 dirty="0"/>
                </a:p>
              </p:txBody>
            </p: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95A75DB-B224-17FA-E9D7-A0326684F092}"/>
                  </a:ext>
                </a:extLst>
              </p:cNvPr>
              <p:cNvSpPr txBox="1"/>
              <p:nvPr/>
            </p:nvSpPr>
            <p:spPr>
              <a:xfrm>
                <a:off x="878513" y="2667898"/>
                <a:ext cx="1333928" cy="53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chemeClr val="bg1"/>
                    </a:solidFill>
                  </a:rPr>
                  <a:t>DETECT</a:t>
                </a:r>
              </a:p>
            </p:txBody>
          </p:sp>
          <p:pic>
            <p:nvPicPr>
              <p:cNvPr id="41" name="Graphic 40" descr="Research with solid fill">
                <a:extLst>
                  <a:ext uri="{FF2B5EF4-FFF2-40B4-BE49-F238E27FC236}">
                    <a16:creationId xmlns:a16="http://schemas.microsoft.com/office/drawing/2014/main" id="{09C3160A-725B-84A7-AD0C-93A9742DC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17739" y="2002892"/>
                <a:ext cx="763459" cy="763459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F217612-C6CA-AF43-080F-7D7FAEF4347E}"/>
                  </a:ext>
                </a:extLst>
              </p:cNvPr>
              <p:cNvSpPr txBox="1"/>
              <p:nvPr/>
            </p:nvSpPr>
            <p:spPr>
              <a:xfrm>
                <a:off x="3413551" y="2651158"/>
                <a:ext cx="1082243" cy="53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chemeClr val="bg1"/>
                    </a:solidFill>
                  </a:rPr>
                  <a:t>FUSE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2ADA7D0-A572-DD2E-1FB0-341203B1E1D3}"/>
                  </a:ext>
                </a:extLst>
              </p:cNvPr>
              <p:cNvSpPr txBox="1"/>
              <p:nvPr/>
            </p:nvSpPr>
            <p:spPr>
              <a:xfrm>
                <a:off x="5581949" y="2631780"/>
                <a:ext cx="11996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dirty="0">
                    <a:solidFill>
                      <a:schemeClr val="bg1"/>
                    </a:solidFill>
                  </a:rPr>
                  <a:t>SCORE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24D764F-522F-639E-7F23-C33AFB47A463}"/>
                  </a:ext>
                </a:extLst>
              </p:cNvPr>
              <p:cNvSpPr txBox="1"/>
              <p:nvPr/>
            </p:nvSpPr>
            <p:spPr>
              <a:xfrm>
                <a:off x="7866096" y="2631780"/>
                <a:ext cx="11996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dirty="0">
                    <a:solidFill>
                      <a:schemeClr val="bg1"/>
                    </a:solidFill>
                  </a:rPr>
                  <a:t>ALERT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01949A3-B372-6CE4-C337-95A3FD66E70E}"/>
                  </a:ext>
                </a:extLst>
              </p:cNvPr>
              <p:cNvSpPr txBox="1"/>
              <p:nvPr/>
            </p:nvSpPr>
            <p:spPr>
              <a:xfrm>
                <a:off x="9621655" y="2646555"/>
                <a:ext cx="2485350" cy="461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b="1" dirty="0">
                    <a:solidFill>
                      <a:schemeClr val="bg1"/>
                    </a:solidFill>
                  </a:rPr>
                  <a:t>LLM REPORT</a:t>
                </a:r>
              </a:p>
            </p:txBody>
          </p:sp>
          <p:pic>
            <p:nvPicPr>
              <p:cNvPr id="49" name="Graphic 48" descr="Network with solid fill">
                <a:extLst>
                  <a:ext uri="{FF2B5EF4-FFF2-40B4-BE49-F238E27FC236}">
                    <a16:creationId xmlns:a16="http://schemas.microsoft.com/office/drawing/2014/main" id="{C22C4C8B-67DB-7934-CF52-DA19030995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07037" y="1948805"/>
                <a:ext cx="826934" cy="826934"/>
              </a:xfrm>
              <a:prstGeom prst="rect">
                <a:avLst/>
              </a:prstGeom>
            </p:spPr>
          </p:pic>
          <p:pic>
            <p:nvPicPr>
              <p:cNvPr id="51" name="Graphic 50" descr="Gauge with solid fill">
                <a:extLst>
                  <a:ext uri="{FF2B5EF4-FFF2-40B4-BE49-F238E27FC236}">
                    <a16:creationId xmlns:a16="http://schemas.microsoft.com/office/drawing/2014/main" id="{4ACE4398-4DBE-D58C-F483-DA1BEFF1F9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765139" y="1954619"/>
                <a:ext cx="854737" cy="854737"/>
              </a:xfrm>
              <a:prstGeom prst="rect">
                <a:avLst/>
              </a:prstGeom>
            </p:spPr>
          </p:pic>
          <p:pic>
            <p:nvPicPr>
              <p:cNvPr id="53" name="Graphic 52" descr="Warning with solid fill">
                <a:extLst>
                  <a:ext uri="{FF2B5EF4-FFF2-40B4-BE49-F238E27FC236}">
                    <a16:creationId xmlns:a16="http://schemas.microsoft.com/office/drawing/2014/main" id="{2F0ED191-9042-4FFF-092A-B85CD7227C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074843" y="1946515"/>
                <a:ext cx="798924" cy="798924"/>
              </a:xfrm>
              <a:prstGeom prst="rect">
                <a:avLst/>
              </a:prstGeom>
            </p:spPr>
          </p:pic>
          <p:pic>
            <p:nvPicPr>
              <p:cNvPr id="55" name="Graphic 54" descr="Checklist with solid fill">
                <a:extLst>
                  <a:ext uri="{FF2B5EF4-FFF2-40B4-BE49-F238E27FC236}">
                    <a16:creationId xmlns:a16="http://schemas.microsoft.com/office/drawing/2014/main" id="{4841A8AB-6F3F-223A-9CE2-A2E0BF4EE7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395546" y="2046842"/>
                <a:ext cx="716280" cy="716280"/>
              </a:xfrm>
              <a:prstGeom prst="rect">
                <a:avLst/>
              </a:prstGeom>
            </p:spPr>
          </p:pic>
        </p:grpSp>
        <p:pic>
          <p:nvPicPr>
            <p:cNvPr id="70" name="Graphic 69" descr="Line arrow: Straight with solid fill">
              <a:extLst>
                <a:ext uri="{FF2B5EF4-FFF2-40B4-BE49-F238E27FC236}">
                  <a16:creationId xmlns:a16="http://schemas.microsoft.com/office/drawing/2014/main" id="{F3843E38-3192-D4EE-69A0-37F38D940E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2316587" y="2382146"/>
              <a:ext cx="618229" cy="618229"/>
            </a:xfrm>
            <a:prstGeom prst="rect">
              <a:avLst/>
            </a:prstGeom>
          </p:spPr>
        </p:pic>
        <p:pic>
          <p:nvPicPr>
            <p:cNvPr id="71" name="Graphic 70" descr="Line arrow: Straight with solid fill">
              <a:extLst>
                <a:ext uri="{FF2B5EF4-FFF2-40B4-BE49-F238E27FC236}">
                  <a16:creationId xmlns:a16="http://schemas.microsoft.com/office/drawing/2014/main" id="{BA4D4EEB-CBAF-D280-5BC0-CD386DC7F1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0800000">
              <a:off x="7012688" y="2430521"/>
              <a:ext cx="618229" cy="618229"/>
            </a:xfrm>
            <a:prstGeom prst="rect">
              <a:avLst/>
            </a:prstGeom>
          </p:spPr>
        </p:pic>
        <p:pic>
          <p:nvPicPr>
            <p:cNvPr id="72" name="Graphic 71" descr="Line arrow: Straight with solid fill">
              <a:extLst>
                <a:ext uri="{FF2B5EF4-FFF2-40B4-BE49-F238E27FC236}">
                  <a16:creationId xmlns:a16="http://schemas.microsoft.com/office/drawing/2014/main" id="{EF5A669B-540E-6ED0-75BF-C54D2C9802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0800000">
              <a:off x="4652690" y="2430303"/>
              <a:ext cx="618229" cy="618229"/>
            </a:xfrm>
            <a:prstGeom prst="rect">
              <a:avLst/>
            </a:prstGeom>
          </p:spPr>
        </p:pic>
        <p:pic>
          <p:nvPicPr>
            <p:cNvPr id="73" name="Graphic 72" descr="Line arrow: Straight with solid fill">
              <a:extLst>
                <a:ext uri="{FF2B5EF4-FFF2-40B4-BE49-F238E27FC236}">
                  <a16:creationId xmlns:a16="http://schemas.microsoft.com/office/drawing/2014/main" id="{49A182E9-F3F2-205E-B6F3-52414D01A2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0800000">
              <a:off x="9318795" y="2453424"/>
              <a:ext cx="618229" cy="618229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8E47448B-9911-D59E-0E96-C7520750271B}"/>
              </a:ext>
            </a:extLst>
          </p:cNvPr>
          <p:cNvSpPr txBox="1"/>
          <p:nvPr/>
        </p:nvSpPr>
        <p:spPr>
          <a:xfrm>
            <a:off x="326937" y="3385838"/>
            <a:ext cx="1160090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An AI-powered system that fuses heterogeneous, multi-domain intelligence streams  in real time to produce a single, actionable, and explainable composite threat score for Indian border security analysts. It applies domain-specific ML models and produces a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</a:rPr>
              <a:t>Unified Threat Picture</a:t>
            </a:r>
            <a:r>
              <a:rPr lang="en-US" sz="1400" dirty="0">
                <a:latin typeface="Arial Rounded MT Bold" panose="020F0704030504030204" pitchFamily="34" charset="0"/>
              </a:rPr>
              <a:t> in real time to Cyber (CYBINT), Social Media (SOCINT), and Geospatial (GEOINT) data :- </a:t>
            </a:r>
            <a:endParaRPr lang="en-IN" sz="1400" dirty="0">
              <a:latin typeface="Arial Rounded MT Bold" panose="020F0704030504030204" pitchFamily="34" charset="0"/>
            </a:endParaRP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39260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6D30F-10BD-514E-7C2C-CABF8E09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D5E0-65C4-2D79-C240-6F35388C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4B8DF-4E89-6DB0-A717-08CB3CAD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4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8B5C77F5-55DB-01EC-2CEB-E7D2570000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6B15E6-66C7-8C8F-55E9-2270E947AB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050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46C2E2F-CC94-B1E1-450B-FEC3325BA65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4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54B53E9A-85E5-FD12-E25C-7D74D0CCB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7E2899-E97A-85D0-444F-D069DC5C0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98DAE5-57C9-1062-38D4-F5D8E2592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604CEB-AD09-ADB6-0862-0ADFFB82A844}"/>
              </a:ext>
            </a:extLst>
          </p:cNvPr>
          <p:cNvSpPr txBox="1"/>
          <p:nvPr/>
        </p:nvSpPr>
        <p:spPr>
          <a:xfrm>
            <a:off x="-305" y="642177"/>
            <a:ext cx="12188445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>
                <a:latin typeface="Arial Rounded MT Bold" panose="020F0704030504030204" pitchFamily="34" charset="0"/>
              </a:rPr>
              <a:t>Innovation &amp; Uniqueness</a:t>
            </a:r>
            <a:endParaRPr lang="en-US" sz="3000" b="1" kern="1200" dirty="0">
              <a:solidFill>
                <a:schemeClr val="tx2"/>
              </a:solidFill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ADCBCC-8F45-37BD-DEE5-29084AD9D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AABF1DC9-A94A-61AB-5C74-C79B5CA90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03C9544-ED11-2412-FD24-285C67687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5EDEE767-488B-1174-0772-46A5D123F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C4ECB3AC-B40D-3ED9-C7E7-76A4D0B6F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A0DA2E88-67C5-2FCA-3DE1-4F730134BD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7511144-1C96-849F-67EF-9F96E909845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FD04D1-E8CD-C58A-C032-845D9E8DC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8F56B301-92D9-0147-A14C-E6A5F95B5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F63F0C9E-F01D-E8A5-E3D2-6E57765F1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4A8062F2-6D93-3D81-617D-BAD884637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A7400B5D-5F6F-9D51-3A29-BE50D9A10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2EE08080-4909-1A84-D501-9A12BB0A0C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E821D01D-A466-7976-52F5-6FC49A919E1C}"/>
              </a:ext>
            </a:extLst>
          </p:cNvPr>
          <p:cNvGrpSpPr/>
          <p:nvPr/>
        </p:nvGrpSpPr>
        <p:grpSpPr>
          <a:xfrm>
            <a:off x="513609" y="1759590"/>
            <a:ext cx="11352766" cy="4800556"/>
            <a:chOff x="397874" y="1174676"/>
            <a:chExt cx="6763860" cy="5683916"/>
          </a:xfrm>
        </p:grpSpPr>
        <p:sp>
          <p:nvSpPr>
            <p:cNvPr id="24" name="Shape 2">
              <a:extLst>
                <a:ext uri="{FF2B5EF4-FFF2-40B4-BE49-F238E27FC236}">
                  <a16:creationId xmlns:a16="http://schemas.microsoft.com/office/drawing/2014/main" id="{11A7A661-973E-257C-B93B-67CBFA60FE3A}"/>
                </a:ext>
              </a:extLst>
            </p:cNvPr>
            <p:cNvSpPr/>
            <p:nvPr/>
          </p:nvSpPr>
          <p:spPr>
            <a:xfrm>
              <a:off x="397874" y="1174676"/>
              <a:ext cx="6763860" cy="1060998"/>
            </a:xfrm>
            <a:custGeom>
              <a:avLst/>
              <a:gdLst/>
              <a:ahLst/>
              <a:cxnLst/>
              <a:rect l="l" t="t" r="r" b="b"/>
              <a:pathLst>
                <a:path w="6763860" h="1060998">
                  <a:moveTo>
                    <a:pt x="37893" y="0"/>
                  </a:moveTo>
                  <a:lnTo>
                    <a:pt x="6688073" y="0"/>
                  </a:lnTo>
                  <a:cubicBezTo>
                    <a:pt x="6729929" y="0"/>
                    <a:pt x="6763860" y="33931"/>
                    <a:pt x="6763860" y="75787"/>
                  </a:cubicBezTo>
                  <a:lnTo>
                    <a:pt x="6763860" y="985211"/>
                  </a:lnTo>
                  <a:cubicBezTo>
                    <a:pt x="6763860" y="1027067"/>
                    <a:pt x="6729929" y="1060998"/>
                    <a:pt x="6688073" y="1060998"/>
                  </a:cubicBezTo>
                  <a:lnTo>
                    <a:pt x="37893" y="1060998"/>
                  </a:lnTo>
                  <a:cubicBezTo>
                    <a:pt x="16965" y="1060998"/>
                    <a:pt x="0" y="1044032"/>
                    <a:pt x="0" y="1023105"/>
                  </a:cubicBezTo>
                  <a:lnTo>
                    <a:pt x="0" y="37893"/>
                  </a:lnTo>
                  <a:cubicBezTo>
                    <a:pt x="0" y="16979"/>
                    <a:pt x="16979" y="0"/>
                    <a:pt x="37893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992A814D-E752-5398-1BAF-457E7791F886}"/>
                </a:ext>
              </a:extLst>
            </p:cNvPr>
            <p:cNvSpPr/>
            <p:nvPr/>
          </p:nvSpPr>
          <p:spPr>
            <a:xfrm>
              <a:off x="397874" y="1174676"/>
              <a:ext cx="37893" cy="1060998"/>
            </a:xfrm>
            <a:custGeom>
              <a:avLst/>
              <a:gdLst/>
              <a:ahLst/>
              <a:cxnLst/>
              <a:rect l="l" t="t" r="r" b="b"/>
              <a:pathLst>
                <a:path w="37893" h="1060998">
                  <a:moveTo>
                    <a:pt x="37893" y="0"/>
                  </a:moveTo>
                  <a:lnTo>
                    <a:pt x="37893" y="0"/>
                  </a:lnTo>
                  <a:lnTo>
                    <a:pt x="37893" y="1060998"/>
                  </a:lnTo>
                  <a:lnTo>
                    <a:pt x="37893" y="1060998"/>
                  </a:lnTo>
                  <a:cubicBezTo>
                    <a:pt x="16965" y="1060998"/>
                    <a:pt x="0" y="1044032"/>
                    <a:pt x="0" y="1023105"/>
                  </a:cubicBezTo>
                  <a:lnTo>
                    <a:pt x="0" y="37893"/>
                  </a:lnTo>
                  <a:cubicBezTo>
                    <a:pt x="0" y="16965"/>
                    <a:pt x="16965" y="0"/>
                    <a:pt x="37893" y="0"/>
                  </a:cubicBezTo>
                  <a:close/>
                </a:path>
              </a:pathLst>
            </a:custGeom>
            <a:solidFill>
              <a:srgbClr val="1A365D"/>
            </a:solidFill>
            <a:ln/>
          </p:spPr>
        </p:sp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57A3B143-5121-42DA-61EC-B7695407A1CB}"/>
                </a:ext>
              </a:extLst>
            </p:cNvPr>
            <p:cNvSpPr/>
            <p:nvPr/>
          </p:nvSpPr>
          <p:spPr>
            <a:xfrm>
              <a:off x="568392" y="1326247"/>
              <a:ext cx="454713" cy="787789"/>
            </a:xfrm>
            <a:custGeom>
              <a:avLst/>
              <a:gdLst/>
              <a:ahLst/>
              <a:cxnLst/>
              <a:rect l="l" t="t" r="r" b="b"/>
              <a:pathLst>
                <a:path w="454713" h="454713">
                  <a:moveTo>
                    <a:pt x="75787" y="0"/>
                  </a:moveTo>
                  <a:lnTo>
                    <a:pt x="378926" y="0"/>
                  </a:lnTo>
                  <a:cubicBezTo>
                    <a:pt x="420754" y="0"/>
                    <a:pt x="454713" y="33959"/>
                    <a:pt x="454713" y="75787"/>
                  </a:cubicBezTo>
                  <a:lnTo>
                    <a:pt x="454713" y="378926"/>
                  </a:lnTo>
                  <a:cubicBezTo>
                    <a:pt x="454713" y="420782"/>
                    <a:pt x="420782" y="454713"/>
                    <a:pt x="378926" y="454713"/>
                  </a:cubicBezTo>
                  <a:lnTo>
                    <a:pt x="75787" y="454713"/>
                  </a:lnTo>
                  <a:cubicBezTo>
                    <a:pt x="33931" y="454713"/>
                    <a:pt x="0" y="420782"/>
                    <a:pt x="0" y="378926"/>
                  </a:cubicBezTo>
                  <a:lnTo>
                    <a:pt x="0" y="75787"/>
                  </a:lnTo>
                  <a:cubicBezTo>
                    <a:pt x="0" y="33959"/>
                    <a:pt x="33959" y="0"/>
                    <a:pt x="75787" y="0"/>
                  </a:cubicBezTo>
                  <a:close/>
                </a:path>
              </a:pathLst>
            </a:custGeom>
            <a:solidFill>
              <a:srgbClr val="1A365D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3DC88A7C-1FCF-C82B-33EF-83A430DD71E2}"/>
                </a:ext>
              </a:extLst>
            </p:cNvPr>
            <p:cNvSpPr/>
            <p:nvPr/>
          </p:nvSpPr>
          <p:spPr>
            <a:xfrm>
              <a:off x="689222" y="1479337"/>
              <a:ext cx="222597" cy="443560"/>
            </a:xfrm>
            <a:custGeom>
              <a:avLst/>
              <a:gdLst/>
              <a:ahLst/>
              <a:cxnLst/>
              <a:rect l="l" t="t" r="r" b="b"/>
              <a:pathLst>
                <a:path w="189464" h="189464">
                  <a:moveTo>
                    <a:pt x="86036" y="1924"/>
                  </a:moveTo>
                  <a:cubicBezTo>
                    <a:pt x="91550" y="-629"/>
                    <a:pt x="97914" y="-629"/>
                    <a:pt x="103428" y="1924"/>
                  </a:cubicBezTo>
                  <a:lnTo>
                    <a:pt x="184320" y="39299"/>
                  </a:lnTo>
                  <a:cubicBezTo>
                    <a:pt x="187466" y="40742"/>
                    <a:pt x="189464" y="43888"/>
                    <a:pt x="189464" y="47366"/>
                  </a:cubicBezTo>
                  <a:cubicBezTo>
                    <a:pt x="189464" y="50844"/>
                    <a:pt x="187466" y="53990"/>
                    <a:pt x="184320" y="55433"/>
                  </a:cubicBezTo>
                  <a:lnTo>
                    <a:pt x="103428" y="92808"/>
                  </a:lnTo>
                  <a:cubicBezTo>
                    <a:pt x="97914" y="95361"/>
                    <a:pt x="91550" y="95361"/>
                    <a:pt x="86036" y="92808"/>
                  </a:cubicBezTo>
                  <a:lnTo>
                    <a:pt x="5144" y="55433"/>
                  </a:lnTo>
                  <a:cubicBezTo>
                    <a:pt x="1998" y="53953"/>
                    <a:pt x="0" y="50807"/>
                    <a:pt x="0" y="47366"/>
                  </a:cubicBezTo>
                  <a:cubicBezTo>
                    <a:pt x="0" y="43925"/>
                    <a:pt x="1998" y="40742"/>
                    <a:pt x="5144" y="39299"/>
                  </a:cubicBezTo>
                  <a:lnTo>
                    <a:pt x="86036" y="1924"/>
                  </a:lnTo>
                  <a:close/>
                  <a:moveTo>
                    <a:pt x="17799" y="80818"/>
                  </a:moveTo>
                  <a:lnTo>
                    <a:pt x="78598" y="108905"/>
                  </a:lnTo>
                  <a:cubicBezTo>
                    <a:pt x="88848" y="113641"/>
                    <a:pt x="100653" y="113641"/>
                    <a:pt x="110903" y="108905"/>
                  </a:cubicBezTo>
                  <a:lnTo>
                    <a:pt x="171702" y="80818"/>
                  </a:lnTo>
                  <a:lnTo>
                    <a:pt x="184320" y="86665"/>
                  </a:lnTo>
                  <a:cubicBezTo>
                    <a:pt x="187466" y="88108"/>
                    <a:pt x="189464" y="91253"/>
                    <a:pt x="189464" y="94732"/>
                  </a:cubicBezTo>
                  <a:cubicBezTo>
                    <a:pt x="189464" y="98210"/>
                    <a:pt x="187466" y="101356"/>
                    <a:pt x="184320" y="102799"/>
                  </a:cubicBezTo>
                  <a:lnTo>
                    <a:pt x="103428" y="140174"/>
                  </a:lnTo>
                  <a:cubicBezTo>
                    <a:pt x="97914" y="142727"/>
                    <a:pt x="91550" y="142727"/>
                    <a:pt x="86036" y="140174"/>
                  </a:cubicBezTo>
                  <a:lnTo>
                    <a:pt x="5144" y="102799"/>
                  </a:lnTo>
                  <a:cubicBezTo>
                    <a:pt x="1998" y="101319"/>
                    <a:pt x="0" y="98173"/>
                    <a:pt x="0" y="94732"/>
                  </a:cubicBezTo>
                  <a:cubicBezTo>
                    <a:pt x="0" y="91291"/>
                    <a:pt x="1998" y="88108"/>
                    <a:pt x="5144" y="86665"/>
                  </a:cubicBezTo>
                  <a:lnTo>
                    <a:pt x="17762" y="80818"/>
                  </a:lnTo>
                  <a:close/>
                  <a:moveTo>
                    <a:pt x="5144" y="134031"/>
                  </a:moveTo>
                  <a:lnTo>
                    <a:pt x="17762" y="128184"/>
                  </a:lnTo>
                  <a:lnTo>
                    <a:pt x="78561" y="156271"/>
                  </a:lnTo>
                  <a:cubicBezTo>
                    <a:pt x="88811" y="161007"/>
                    <a:pt x="100616" y="161007"/>
                    <a:pt x="110866" y="156271"/>
                  </a:cubicBezTo>
                  <a:lnTo>
                    <a:pt x="171665" y="128184"/>
                  </a:lnTo>
                  <a:lnTo>
                    <a:pt x="184283" y="134031"/>
                  </a:lnTo>
                  <a:cubicBezTo>
                    <a:pt x="187429" y="135474"/>
                    <a:pt x="189427" y="138619"/>
                    <a:pt x="189427" y="142098"/>
                  </a:cubicBezTo>
                  <a:cubicBezTo>
                    <a:pt x="189427" y="145576"/>
                    <a:pt x="187429" y="148722"/>
                    <a:pt x="184283" y="150165"/>
                  </a:cubicBezTo>
                  <a:lnTo>
                    <a:pt x="103391" y="187540"/>
                  </a:lnTo>
                  <a:cubicBezTo>
                    <a:pt x="97877" y="190093"/>
                    <a:pt x="91513" y="190093"/>
                    <a:pt x="85999" y="187540"/>
                  </a:cubicBezTo>
                  <a:lnTo>
                    <a:pt x="5144" y="150165"/>
                  </a:lnTo>
                  <a:cubicBezTo>
                    <a:pt x="1998" y="148685"/>
                    <a:pt x="0" y="145539"/>
                    <a:pt x="0" y="142098"/>
                  </a:cubicBezTo>
                  <a:cubicBezTo>
                    <a:pt x="0" y="138656"/>
                    <a:pt x="1998" y="135474"/>
                    <a:pt x="5144" y="13403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8" name="Text 6">
              <a:extLst>
                <a:ext uri="{FF2B5EF4-FFF2-40B4-BE49-F238E27FC236}">
                  <a16:creationId xmlns:a16="http://schemas.microsoft.com/office/drawing/2014/main" id="{76FCD5FC-BAE2-1EF6-C839-D5F912E45A1B}"/>
                </a:ext>
              </a:extLst>
            </p:cNvPr>
            <p:cNvSpPr/>
            <p:nvPr/>
          </p:nvSpPr>
          <p:spPr>
            <a:xfrm>
              <a:off x="1174676" y="1326247"/>
              <a:ext cx="5920746" cy="2652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1A365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Multi-Domain Intelligence Fusion</a:t>
              </a:r>
              <a:endParaRPr lang="en-US" sz="1500" dirty="0"/>
            </a:p>
          </p:txBody>
        </p:sp>
        <p:sp>
          <p:nvSpPr>
            <p:cNvPr id="29" name="Text 7">
              <a:extLst>
                <a:ext uri="{FF2B5EF4-FFF2-40B4-BE49-F238E27FC236}">
                  <a16:creationId xmlns:a16="http://schemas.microsoft.com/office/drawing/2014/main" id="{B6AAE18D-19D7-763D-7136-EEDEB9FC4F23}"/>
                </a:ext>
              </a:extLst>
            </p:cNvPr>
            <p:cNvSpPr/>
            <p:nvPr/>
          </p:nvSpPr>
          <p:spPr>
            <a:xfrm>
              <a:off x="1174676" y="1629389"/>
              <a:ext cx="5911273" cy="4547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First platform to seamlessly integrate </a:t>
              </a:r>
              <a:r>
                <a:rPr lang="en-US" sz="1400" b="1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SOCMINT, CYBINT, and GEOINT </a:t>
              </a:r>
              <a:r>
                <a:rPr lang="en-US" sz="1400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into a unified analysis framework</a:t>
              </a:r>
              <a:endParaRPr lang="en-US"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0" name="Shape 8">
              <a:extLst>
                <a:ext uri="{FF2B5EF4-FFF2-40B4-BE49-F238E27FC236}">
                  <a16:creationId xmlns:a16="http://schemas.microsoft.com/office/drawing/2014/main" id="{B000D443-A6C0-14EA-A09C-245457CC2B57}"/>
                </a:ext>
              </a:extLst>
            </p:cNvPr>
            <p:cNvSpPr/>
            <p:nvPr/>
          </p:nvSpPr>
          <p:spPr>
            <a:xfrm>
              <a:off x="397874" y="2387245"/>
              <a:ext cx="6763860" cy="1060998"/>
            </a:xfrm>
            <a:custGeom>
              <a:avLst/>
              <a:gdLst/>
              <a:ahLst/>
              <a:cxnLst/>
              <a:rect l="l" t="t" r="r" b="b"/>
              <a:pathLst>
                <a:path w="6763860" h="1060998">
                  <a:moveTo>
                    <a:pt x="37893" y="0"/>
                  </a:moveTo>
                  <a:lnTo>
                    <a:pt x="6688073" y="0"/>
                  </a:lnTo>
                  <a:cubicBezTo>
                    <a:pt x="6729929" y="0"/>
                    <a:pt x="6763860" y="33931"/>
                    <a:pt x="6763860" y="75787"/>
                  </a:cubicBezTo>
                  <a:lnTo>
                    <a:pt x="6763860" y="985211"/>
                  </a:lnTo>
                  <a:cubicBezTo>
                    <a:pt x="6763860" y="1027067"/>
                    <a:pt x="6729929" y="1060998"/>
                    <a:pt x="6688073" y="1060998"/>
                  </a:cubicBezTo>
                  <a:lnTo>
                    <a:pt x="37893" y="1060998"/>
                  </a:lnTo>
                  <a:cubicBezTo>
                    <a:pt x="16965" y="1060998"/>
                    <a:pt x="0" y="1044032"/>
                    <a:pt x="0" y="1023105"/>
                  </a:cubicBezTo>
                  <a:lnTo>
                    <a:pt x="0" y="37893"/>
                  </a:lnTo>
                  <a:cubicBezTo>
                    <a:pt x="0" y="16979"/>
                    <a:pt x="16979" y="0"/>
                    <a:pt x="37893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CB0D6717-703B-0E19-5472-4C7EA6FDC87E}"/>
                </a:ext>
              </a:extLst>
            </p:cNvPr>
            <p:cNvSpPr/>
            <p:nvPr/>
          </p:nvSpPr>
          <p:spPr>
            <a:xfrm>
              <a:off x="397874" y="2387245"/>
              <a:ext cx="37893" cy="1060998"/>
            </a:xfrm>
            <a:custGeom>
              <a:avLst/>
              <a:gdLst/>
              <a:ahLst/>
              <a:cxnLst/>
              <a:rect l="l" t="t" r="r" b="b"/>
              <a:pathLst>
                <a:path w="37893" h="1060998">
                  <a:moveTo>
                    <a:pt x="37893" y="0"/>
                  </a:moveTo>
                  <a:lnTo>
                    <a:pt x="37893" y="0"/>
                  </a:lnTo>
                  <a:lnTo>
                    <a:pt x="37893" y="1060998"/>
                  </a:lnTo>
                  <a:lnTo>
                    <a:pt x="37893" y="1060998"/>
                  </a:lnTo>
                  <a:cubicBezTo>
                    <a:pt x="16965" y="1060998"/>
                    <a:pt x="0" y="1044032"/>
                    <a:pt x="0" y="1023105"/>
                  </a:cubicBezTo>
                  <a:lnTo>
                    <a:pt x="0" y="37893"/>
                  </a:lnTo>
                  <a:cubicBezTo>
                    <a:pt x="0" y="16965"/>
                    <a:pt x="16965" y="0"/>
                    <a:pt x="37893" y="0"/>
                  </a:cubicBezTo>
                  <a:close/>
                </a:path>
              </a:pathLst>
            </a:custGeom>
            <a:solidFill>
              <a:srgbClr val="0D9488"/>
            </a:solidFill>
            <a:ln/>
          </p:spPr>
        </p:sp>
        <p:sp>
          <p:nvSpPr>
            <p:cNvPr id="32" name="Shape 10">
              <a:extLst>
                <a:ext uri="{FF2B5EF4-FFF2-40B4-BE49-F238E27FC236}">
                  <a16:creationId xmlns:a16="http://schemas.microsoft.com/office/drawing/2014/main" id="{748994F7-AAD8-6C1A-7559-E761A8996EFF}"/>
                </a:ext>
              </a:extLst>
            </p:cNvPr>
            <p:cNvSpPr/>
            <p:nvPr/>
          </p:nvSpPr>
          <p:spPr>
            <a:xfrm>
              <a:off x="568392" y="2538816"/>
              <a:ext cx="454713" cy="757855"/>
            </a:xfrm>
            <a:custGeom>
              <a:avLst/>
              <a:gdLst/>
              <a:ahLst/>
              <a:cxnLst/>
              <a:rect l="l" t="t" r="r" b="b"/>
              <a:pathLst>
                <a:path w="454713" h="454713">
                  <a:moveTo>
                    <a:pt x="75787" y="0"/>
                  </a:moveTo>
                  <a:lnTo>
                    <a:pt x="378926" y="0"/>
                  </a:lnTo>
                  <a:cubicBezTo>
                    <a:pt x="420754" y="0"/>
                    <a:pt x="454713" y="33959"/>
                    <a:pt x="454713" y="75787"/>
                  </a:cubicBezTo>
                  <a:lnTo>
                    <a:pt x="454713" y="378926"/>
                  </a:lnTo>
                  <a:cubicBezTo>
                    <a:pt x="454713" y="420782"/>
                    <a:pt x="420782" y="454713"/>
                    <a:pt x="378926" y="454713"/>
                  </a:cubicBezTo>
                  <a:lnTo>
                    <a:pt x="75787" y="454713"/>
                  </a:lnTo>
                  <a:cubicBezTo>
                    <a:pt x="33931" y="454713"/>
                    <a:pt x="0" y="420782"/>
                    <a:pt x="0" y="378926"/>
                  </a:cubicBezTo>
                  <a:lnTo>
                    <a:pt x="0" y="75787"/>
                  </a:lnTo>
                  <a:cubicBezTo>
                    <a:pt x="0" y="33959"/>
                    <a:pt x="33959" y="0"/>
                    <a:pt x="75787" y="0"/>
                  </a:cubicBezTo>
                  <a:close/>
                </a:path>
              </a:pathLst>
            </a:custGeom>
            <a:solidFill>
              <a:srgbClr val="0D9488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3" name="Shape 11">
              <a:extLst>
                <a:ext uri="{FF2B5EF4-FFF2-40B4-BE49-F238E27FC236}">
                  <a16:creationId xmlns:a16="http://schemas.microsoft.com/office/drawing/2014/main" id="{5EBF9A44-927F-9CD7-BA1B-F398EC7E3AA5}"/>
                </a:ext>
              </a:extLst>
            </p:cNvPr>
            <p:cNvSpPr/>
            <p:nvPr/>
          </p:nvSpPr>
          <p:spPr>
            <a:xfrm>
              <a:off x="657431" y="2671440"/>
              <a:ext cx="276857" cy="473659"/>
            </a:xfrm>
            <a:custGeom>
              <a:avLst/>
              <a:gdLst/>
              <a:ahLst/>
              <a:cxnLst/>
              <a:rect l="l" t="t" r="r" b="b"/>
              <a:pathLst>
                <a:path w="236830" h="189464">
                  <a:moveTo>
                    <a:pt x="130256" y="0"/>
                  </a:moveTo>
                  <a:cubicBezTo>
                    <a:pt x="130256" y="-6550"/>
                    <a:pt x="124965" y="-11841"/>
                    <a:pt x="118415" y="-11841"/>
                  </a:cubicBezTo>
                  <a:cubicBezTo>
                    <a:pt x="111865" y="-11841"/>
                    <a:pt x="106573" y="-6550"/>
                    <a:pt x="106573" y="0"/>
                  </a:cubicBezTo>
                  <a:lnTo>
                    <a:pt x="106573" y="23683"/>
                  </a:lnTo>
                  <a:lnTo>
                    <a:pt x="71049" y="23683"/>
                  </a:lnTo>
                  <a:cubicBezTo>
                    <a:pt x="51436" y="23683"/>
                    <a:pt x="35524" y="39595"/>
                    <a:pt x="35524" y="59207"/>
                  </a:cubicBezTo>
                  <a:lnTo>
                    <a:pt x="35524" y="142098"/>
                  </a:lnTo>
                  <a:cubicBezTo>
                    <a:pt x="35524" y="161710"/>
                    <a:pt x="51436" y="177622"/>
                    <a:pt x="71049" y="177622"/>
                  </a:cubicBezTo>
                  <a:lnTo>
                    <a:pt x="165781" y="177622"/>
                  </a:lnTo>
                  <a:cubicBezTo>
                    <a:pt x="185393" y="177622"/>
                    <a:pt x="201305" y="161710"/>
                    <a:pt x="201305" y="142098"/>
                  </a:cubicBezTo>
                  <a:lnTo>
                    <a:pt x="201305" y="59207"/>
                  </a:lnTo>
                  <a:cubicBezTo>
                    <a:pt x="201305" y="39595"/>
                    <a:pt x="185393" y="23683"/>
                    <a:pt x="165781" y="23683"/>
                  </a:cubicBezTo>
                  <a:lnTo>
                    <a:pt x="130256" y="23683"/>
                  </a:lnTo>
                  <a:lnTo>
                    <a:pt x="130256" y="0"/>
                  </a:lnTo>
                  <a:close/>
                  <a:moveTo>
                    <a:pt x="59207" y="136177"/>
                  </a:moveTo>
                  <a:cubicBezTo>
                    <a:pt x="59207" y="131256"/>
                    <a:pt x="63167" y="127296"/>
                    <a:pt x="68089" y="127296"/>
                  </a:cubicBezTo>
                  <a:lnTo>
                    <a:pt x="79930" y="127296"/>
                  </a:lnTo>
                  <a:cubicBezTo>
                    <a:pt x="84852" y="127296"/>
                    <a:pt x="88811" y="131256"/>
                    <a:pt x="88811" y="136177"/>
                  </a:cubicBezTo>
                  <a:cubicBezTo>
                    <a:pt x="88811" y="141099"/>
                    <a:pt x="84852" y="145058"/>
                    <a:pt x="79930" y="145058"/>
                  </a:cubicBezTo>
                  <a:lnTo>
                    <a:pt x="68089" y="145058"/>
                  </a:lnTo>
                  <a:cubicBezTo>
                    <a:pt x="63167" y="145058"/>
                    <a:pt x="59207" y="141099"/>
                    <a:pt x="59207" y="136177"/>
                  </a:cubicBezTo>
                  <a:close/>
                  <a:moveTo>
                    <a:pt x="103613" y="136177"/>
                  </a:moveTo>
                  <a:cubicBezTo>
                    <a:pt x="103613" y="131256"/>
                    <a:pt x="107573" y="127296"/>
                    <a:pt x="112494" y="127296"/>
                  </a:cubicBezTo>
                  <a:lnTo>
                    <a:pt x="124336" y="127296"/>
                  </a:lnTo>
                  <a:cubicBezTo>
                    <a:pt x="129257" y="127296"/>
                    <a:pt x="133217" y="131256"/>
                    <a:pt x="133217" y="136177"/>
                  </a:cubicBezTo>
                  <a:cubicBezTo>
                    <a:pt x="133217" y="141099"/>
                    <a:pt x="129257" y="145058"/>
                    <a:pt x="124336" y="145058"/>
                  </a:cubicBezTo>
                  <a:lnTo>
                    <a:pt x="112494" y="145058"/>
                  </a:lnTo>
                  <a:cubicBezTo>
                    <a:pt x="107573" y="145058"/>
                    <a:pt x="103613" y="141099"/>
                    <a:pt x="103613" y="136177"/>
                  </a:cubicBezTo>
                  <a:close/>
                  <a:moveTo>
                    <a:pt x="148019" y="136177"/>
                  </a:moveTo>
                  <a:cubicBezTo>
                    <a:pt x="148019" y="131256"/>
                    <a:pt x="151978" y="127296"/>
                    <a:pt x="156900" y="127296"/>
                  </a:cubicBezTo>
                  <a:lnTo>
                    <a:pt x="168741" y="127296"/>
                  </a:lnTo>
                  <a:cubicBezTo>
                    <a:pt x="173663" y="127296"/>
                    <a:pt x="177622" y="131256"/>
                    <a:pt x="177622" y="136177"/>
                  </a:cubicBezTo>
                  <a:cubicBezTo>
                    <a:pt x="177622" y="141099"/>
                    <a:pt x="173663" y="145058"/>
                    <a:pt x="168741" y="145058"/>
                  </a:cubicBezTo>
                  <a:lnTo>
                    <a:pt x="156900" y="145058"/>
                  </a:lnTo>
                  <a:cubicBezTo>
                    <a:pt x="151978" y="145058"/>
                    <a:pt x="148019" y="141099"/>
                    <a:pt x="148019" y="136177"/>
                  </a:cubicBezTo>
                  <a:close/>
                  <a:moveTo>
                    <a:pt x="82890" y="65128"/>
                  </a:moveTo>
                  <a:cubicBezTo>
                    <a:pt x="92694" y="65128"/>
                    <a:pt x="100653" y="73087"/>
                    <a:pt x="100653" y="82890"/>
                  </a:cubicBezTo>
                  <a:cubicBezTo>
                    <a:pt x="100653" y="92694"/>
                    <a:pt x="92694" y="100653"/>
                    <a:pt x="82890" y="100653"/>
                  </a:cubicBezTo>
                  <a:cubicBezTo>
                    <a:pt x="73087" y="100653"/>
                    <a:pt x="65128" y="92694"/>
                    <a:pt x="65128" y="82890"/>
                  </a:cubicBezTo>
                  <a:cubicBezTo>
                    <a:pt x="65128" y="73087"/>
                    <a:pt x="73087" y="65128"/>
                    <a:pt x="82890" y="65128"/>
                  </a:cubicBezTo>
                  <a:close/>
                  <a:moveTo>
                    <a:pt x="136177" y="82890"/>
                  </a:moveTo>
                  <a:cubicBezTo>
                    <a:pt x="136177" y="73087"/>
                    <a:pt x="144136" y="65128"/>
                    <a:pt x="153939" y="65128"/>
                  </a:cubicBezTo>
                  <a:cubicBezTo>
                    <a:pt x="163743" y="65128"/>
                    <a:pt x="171702" y="73087"/>
                    <a:pt x="171702" y="82890"/>
                  </a:cubicBezTo>
                  <a:cubicBezTo>
                    <a:pt x="171702" y="92694"/>
                    <a:pt x="163743" y="100653"/>
                    <a:pt x="153939" y="100653"/>
                  </a:cubicBezTo>
                  <a:cubicBezTo>
                    <a:pt x="144136" y="100653"/>
                    <a:pt x="136177" y="92694"/>
                    <a:pt x="136177" y="82890"/>
                  </a:cubicBezTo>
                  <a:close/>
                  <a:moveTo>
                    <a:pt x="23683" y="82890"/>
                  </a:moveTo>
                  <a:cubicBezTo>
                    <a:pt x="23683" y="76341"/>
                    <a:pt x="18391" y="71049"/>
                    <a:pt x="11841" y="71049"/>
                  </a:cubicBezTo>
                  <a:cubicBezTo>
                    <a:pt x="5292" y="71049"/>
                    <a:pt x="0" y="76341"/>
                    <a:pt x="0" y="82890"/>
                  </a:cubicBezTo>
                  <a:lnTo>
                    <a:pt x="0" y="118415"/>
                  </a:lnTo>
                  <a:cubicBezTo>
                    <a:pt x="0" y="124965"/>
                    <a:pt x="5292" y="130256"/>
                    <a:pt x="11841" y="130256"/>
                  </a:cubicBezTo>
                  <a:cubicBezTo>
                    <a:pt x="18391" y="130256"/>
                    <a:pt x="23683" y="124965"/>
                    <a:pt x="23683" y="118415"/>
                  </a:cubicBezTo>
                  <a:lnTo>
                    <a:pt x="23683" y="82890"/>
                  </a:lnTo>
                  <a:close/>
                  <a:moveTo>
                    <a:pt x="224988" y="71049"/>
                  </a:moveTo>
                  <a:cubicBezTo>
                    <a:pt x="218439" y="71049"/>
                    <a:pt x="213147" y="76341"/>
                    <a:pt x="213147" y="82890"/>
                  </a:cubicBezTo>
                  <a:lnTo>
                    <a:pt x="213147" y="118415"/>
                  </a:lnTo>
                  <a:cubicBezTo>
                    <a:pt x="213147" y="124965"/>
                    <a:pt x="218439" y="130256"/>
                    <a:pt x="224988" y="130256"/>
                  </a:cubicBezTo>
                  <a:cubicBezTo>
                    <a:pt x="231538" y="130256"/>
                    <a:pt x="236830" y="124965"/>
                    <a:pt x="236830" y="118415"/>
                  </a:cubicBezTo>
                  <a:lnTo>
                    <a:pt x="236830" y="82890"/>
                  </a:lnTo>
                  <a:cubicBezTo>
                    <a:pt x="236830" y="76341"/>
                    <a:pt x="231538" y="71049"/>
                    <a:pt x="224988" y="71049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DFAF5AF6-3D33-AF60-E8EC-EF945687ACE5}"/>
                </a:ext>
              </a:extLst>
            </p:cNvPr>
            <p:cNvSpPr/>
            <p:nvPr/>
          </p:nvSpPr>
          <p:spPr>
            <a:xfrm>
              <a:off x="1174676" y="2538816"/>
              <a:ext cx="5920746" cy="2652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1A365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Cross-Domain AI Anomaly Detection</a:t>
              </a:r>
              <a:endParaRPr lang="en-US" sz="1500" dirty="0"/>
            </a:p>
          </p:txBody>
        </p:sp>
        <p:sp>
          <p:nvSpPr>
            <p:cNvPr id="35" name="Text 13">
              <a:extLst>
                <a:ext uri="{FF2B5EF4-FFF2-40B4-BE49-F238E27FC236}">
                  <a16:creationId xmlns:a16="http://schemas.microsoft.com/office/drawing/2014/main" id="{BC961640-77A3-8529-BBE4-1A7045150DBC}"/>
                </a:ext>
              </a:extLst>
            </p:cNvPr>
            <p:cNvSpPr/>
            <p:nvPr/>
          </p:nvSpPr>
          <p:spPr>
            <a:xfrm>
              <a:off x="1174676" y="2841958"/>
              <a:ext cx="5911273" cy="4547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AI models trained to </a:t>
              </a:r>
              <a:r>
                <a:rPr lang="en-US" sz="1400" b="1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detect anomalies </a:t>
              </a:r>
              <a:r>
                <a:rPr lang="en-US" sz="1400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and patterns across </a:t>
              </a:r>
              <a:r>
                <a:rPr lang="en-US" sz="1400" b="1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cyber, social, and geospatial </a:t>
              </a:r>
              <a:r>
                <a:rPr lang="en-US" sz="1400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domains simultaneously</a:t>
              </a:r>
              <a:endParaRPr lang="en-US"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6" name="Shape 14">
              <a:extLst>
                <a:ext uri="{FF2B5EF4-FFF2-40B4-BE49-F238E27FC236}">
                  <a16:creationId xmlns:a16="http://schemas.microsoft.com/office/drawing/2014/main" id="{6E111D66-2340-1C8E-9028-20F0E9F38B70}"/>
                </a:ext>
              </a:extLst>
            </p:cNvPr>
            <p:cNvSpPr/>
            <p:nvPr/>
          </p:nvSpPr>
          <p:spPr>
            <a:xfrm>
              <a:off x="397874" y="3599814"/>
              <a:ext cx="6763860" cy="1060998"/>
            </a:xfrm>
            <a:custGeom>
              <a:avLst/>
              <a:gdLst/>
              <a:ahLst/>
              <a:cxnLst/>
              <a:rect l="l" t="t" r="r" b="b"/>
              <a:pathLst>
                <a:path w="6763860" h="1060998">
                  <a:moveTo>
                    <a:pt x="37893" y="0"/>
                  </a:moveTo>
                  <a:lnTo>
                    <a:pt x="6688073" y="0"/>
                  </a:lnTo>
                  <a:cubicBezTo>
                    <a:pt x="6729929" y="0"/>
                    <a:pt x="6763860" y="33931"/>
                    <a:pt x="6763860" y="75787"/>
                  </a:cubicBezTo>
                  <a:lnTo>
                    <a:pt x="6763860" y="985211"/>
                  </a:lnTo>
                  <a:cubicBezTo>
                    <a:pt x="6763860" y="1027067"/>
                    <a:pt x="6729929" y="1060998"/>
                    <a:pt x="6688073" y="1060998"/>
                  </a:cubicBezTo>
                  <a:lnTo>
                    <a:pt x="37893" y="1060998"/>
                  </a:lnTo>
                  <a:cubicBezTo>
                    <a:pt x="16965" y="1060998"/>
                    <a:pt x="0" y="1044032"/>
                    <a:pt x="0" y="1023105"/>
                  </a:cubicBezTo>
                  <a:lnTo>
                    <a:pt x="0" y="37893"/>
                  </a:lnTo>
                  <a:cubicBezTo>
                    <a:pt x="0" y="16979"/>
                    <a:pt x="16979" y="0"/>
                    <a:pt x="37893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7" name="Shape 15">
              <a:extLst>
                <a:ext uri="{FF2B5EF4-FFF2-40B4-BE49-F238E27FC236}">
                  <a16:creationId xmlns:a16="http://schemas.microsoft.com/office/drawing/2014/main" id="{4482E35C-D6BB-926A-2D1C-CD27A85F8A04}"/>
                </a:ext>
              </a:extLst>
            </p:cNvPr>
            <p:cNvSpPr/>
            <p:nvPr/>
          </p:nvSpPr>
          <p:spPr>
            <a:xfrm>
              <a:off x="397874" y="3599814"/>
              <a:ext cx="37893" cy="1060998"/>
            </a:xfrm>
            <a:custGeom>
              <a:avLst/>
              <a:gdLst/>
              <a:ahLst/>
              <a:cxnLst/>
              <a:rect l="l" t="t" r="r" b="b"/>
              <a:pathLst>
                <a:path w="37893" h="1060998">
                  <a:moveTo>
                    <a:pt x="37893" y="0"/>
                  </a:moveTo>
                  <a:lnTo>
                    <a:pt x="37893" y="0"/>
                  </a:lnTo>
                  <a:lnTo>
                    <a:pt x="37893" y="1060998"/>
                  </a:lnTo>
                  <a:lnTo>
                    <a:pt x="37893" y="1060998"/>
                  </a:lnTo>
                  <a:cubicBezTo>
                    <a:pt x="16965" y="1060998"/>
                    <a:pt x="0" y="1044032"/>
                    <a:pt x="0" y="1023105"/>
                  </a:cubicBezTo>
                  <a:lnTo>
                    <a:pt x="0" y="37893"/>
                  </a:lnTo>
                  <a:cubicBezTo>
                    <a:pt x="0" y="16965"/>
                    <a:pt x="16965" y="0"/>
                    <a:pt x="37893" y="0"/>
                  </a:cubicBezTo>
                  <a:close/>
                </a:path>
              </a:pathLst>
            </a:custGeom>
            <a:solidFill>
              <a:srgbClr val="2DD4BF"/>
            </a:solidFill>
            <a:ln/>
          </p:spPr>
        </p:sp>
        <p:sp>
          <p:nvSpPr>
            <p:cNvPr id="38" name="Shape 16">
              <a:extLst>
                <a:ext uri="{FF2B5EF4-FFF2-40B4-BE49-F238E27FC236}">
                  <a16:creationId xmlns:a16="http://schemas.microsoft.com/office/drawing/2014/main" id="{25226D59-C50F-8BC3-47A0-EC193FB83266}"/>
                </a:ext>
              </a:extLst>
            </p:cNvPr>
            <p:cNvSpPr/>
            <p:nvPr/>
          </p:nvSpPr>
          <p:spPr>
            <a:xfrm>
              <a:off x="568392" y="3751385"/>
              <a:ext cx="454713" cy="757854"/>
            </a:xfrm>
            <a:custGeom>
              <a:avLst/>
              <a:gdLst/>
              <a:ahLst/>
              <a:cxnLst/>
              <a:rect l="l" t="t" r="r" b="b"/>
              <a:pathLst>
                <a:path w="454713" h="454713">
                  <a:moveTo>
                    <a:pt x="75787" y="0"/>
                  </a:moveTo>
                  <a:lnTo>
                    <a:pt x="378926" y="0"/>
                  </a:lnTo>
                  <a:cubicBezTo>
                    <a:pt x="420754" y="0"/>
                    <a:pt x="454713" y="33959"/>
                    <a:pt x="454713" y="75787"/>
                  </a:cubicBezTo>
                  <a:lnTo>
                    <a:pt x="454713" y="378926"/>
                  </a:lnTo>
                  <a:cubicBezTo>
                    <a:pt x="454713" y="420782"/>
                    <a:pt x="420782" y="454713"/>
                    <a:pt x="378926" y="454713"/>
                  </a:cubicBezTo>
                  <a:lnTo>
                    <a:pt x="75787" y="454713"/>
                  </a:lnTo>
                  <a:cubicBezTo>
                    <a:pt x="33931" y="454713"/>
                    <a:pt x="0" y="420782"/>
                    <a:pt x="0" y="378926"/>
                  </a:cubicBezTo>
                  <a:lnTo>
                    <a:pt x="0" y="75787"/>
                  </a:lnTo>
                  <a:cubicBezTo>
                    <a:pt x="0" y="33959"/>
                    <a:pt x="33959" y="0"/>
                    <a:pt x="7578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9" name="Shape 17">
              <a:extLst>
                <a:ext uri="{FF2B5EF4-FFF2-40B4-BE49-F238E27FC236}">
                  <a16:creationId xmlns:a16="http://schemas.microsoft.com/office/drawing/2014/main" id="{78786647-75B9-F5F0-B765-03BC55E102BD}"/>
                </a:ext>
              </a:extLst>
            </p:cNvPr>
            <p:cNvSpPr/>
            <p:nvPr/>
          </p:nvSpPr>
          <p:spPr>
            <a:xfrm>
              <a:off x="701016" y="3908738"/>
              <a:ext cx="209894" cy="479778"/>
            </a:xfrm>
            <a:custGeom>
              <a:avLst/>
              <a:gdLst/>
              <a:ahLst/>
              <a:cxnLst/>
              <a:rect l="l" t="t" r="r" b="b"/>
              <a:pathLst>
                <a:path w="142098" h="189464">
                  <a:moveTo>
                    <a:pt x="23683" y="0"/>
                  </a:moveTo>
                  <a:cubicBezTo>
                    <a:pt x="10620" y="0"/>
                    <a:pt x="0" y="10620"/>
                    <a:pt x="0" y="23683"/>
                  </a:cubicBezTo>
                  <a:lnTo>
                    <a:pt x="0" y="165781"/>
                  </a:lnTo>
                  <a:cubicBezTo>
                    <a:pt x="0" y="178844"/>
                    <a:pt x="10620" y="189464"/>
                    <a:pt x="23683" y="189464"/>
                  </a:cubicBezTo>
                  <a:lnTo>
                    <a:pt x="118415" y="189464"/>
                  </a:lnTo>
                  <a:cubicBezTo>
                    <a:pt x="131478" y="189464"/>
                    <a:pt x="142098" y="178844"/>
                    <a:pt x="142098" y="165781"/>
                  </a:cubicBezTo>
                  <a:lnTo>
                    <a:pt x="142098" y="23683"/>
                  </a:lnTo>
                  <a:cubicBezTo>
                    <a:pt x="142098" y="10620"/>
                    <a:pt x="131478" y="0"/>
                    <a:pt x="118415" y="0"/>
                  </a:cubicBezTo>
                  <a:lnTo>
                    <a:pt x="23683" y="0"/>
                  </a:lnTo>
                  <a:close/>
                  <a:moveTo>
                    <a:pt x="35524" y="23683"/>
                  </a:moveTo>
                  <a:lnTo>
                    <a:pt x="106573" y="23683"/>
                  </a:lnTo>
                  <a:cubicBezTo>
                    <a:pt x="113123" y="23683"/>
                    <a:pt x="118415" y="28975"/>
                    <a:pt x="118415" y="35524"/>
                  </a:cubicBezTo>
                  <a:lnTo>
                    <a:pt x="118415" y="47366"/>
                  </a:lnTo>
                  <a:cubicBezTo>
                    <a:pt x="118415" y="53916"/>
                    <a:pt x="113123" y="59207"/>
                    <a:pt x="106573" y="59207"/>
                  </a:cubicBezTo>
                  <a:lnTo>
                    <a:pt x="35524" y="59207"/>
                  </a:lnTo>
                  <a:cubicBezTo>
                    <a:pt x="28975" y="59207"/>
                    <a:pt x="23683" y="53916"/>
                    <a:pt x="23683" y="47366"/>
                  </a:cubicBezTo>
                  <a:lnTo>
                    <a:pt x="23683" y="35524"/>
                  </a:lnTo>
                  <a:cubicBezTo>
                    <a:pt x="23683" y="28975"/>
                    <a:pt x="28975" y="23683"/>
                    <a:pt x="35524" y="23683"/>
                  </a:cubicBezTo>
                  <a:close/>
                  <a:moveTo>
                    <a:pt x="41445" y="85851"/>
                  </a:moveTo>
                  <a:cubicBezTo>
                    <a:pt x="41445" y="90752"/>
                    <a:pt x="37466" y="94732"/>
                    <a:pt x="32564" y="94732"/>
                  </a:cubicBezTo>
                  <a:cubicBezTo>
                    <a:pt x="27662" y="94732"/>
                    <a:pt x="23683" y="90752"/>
                    <a:pt x="23683" y="85851"/>
                  </a:cubicBezTo>
                  <a:cubicBezTo>
                    <a:pt x="23683" y="80949"/>
                    <a:pt x="27662" y="76970"/>
                    <a:pt x="32564" y="76970"/>
                  </a:cubicBezTo>
                  <a:cubicBezTo>
                    <a:pt x="37466" y="76970"/>
                    <a:pt x="41445" y="80949"/>
                    <a:pt x="41445" y="85851"/>
                  </a:cubicBezTo>
                  <a:close/>
                  <a:moveTo>
                    <a:pt x="71049" y="94732"/>
                  </a:moveTo>
                  <a:cubicBezTo>
                    <a:pt x="66147" y="94732"/>
                    <a:pt x="62168" y="90752"/>
                    <a:pt x="62168" y="85851"/>
                  </a:cubicBezTo>
                  <a:cubicBezTo>
                    <a:pt x="62168" y="80949"/>
                    <a:pt x="66147" y="76970"/>
                    <a:pt x="71049" y="76970"/>
                  </a:cubicBezTo>
                  <a:cubicBezTo>
                    <a:pt x="75951" y="76970"/>
                    <a:pt x="79930" y="80949"/>
                    <a:pt x="79930" y="85851"/>
                  </a:cubicBezTo>
                  <a:cubicBezTo>
                    <a:pt x="79930" y="90752"/>
                    <a:pt x="75951" y="94732"/>
                    <a:pt x="71049" y="94732"/>
                  </a:cubicBezTo>
                  <a:close/>
                  <a:moveTo>
                    <a:pt x="118415" y="85851"/>
                  </a:moveTo>
                  <a:cubicBezTo>
                    <a:pt x="118415" y="90752"/>
                    <a:pt x="114435" y="94732"/>
                    <a:pt x="109534" y="94732"/>
                  </a:cubicBezTo>
                  <a:cubicBezTo>
                    <a:pt x="104632" y="94732"/>
                    <a:pt x="100653" y="90752"/>
                    <a:pt x="100653" y="85851"/>
                  </a:cubicBezTo>
                  <a:cubicBezTo>
                    <a:pt x="100653" y="80949"/>
                    <a:pt x="104632" y="76970"/>
                    <a:pt x="109534" y="76970"/>
                  </a:cubicBezTo>
                  <a:cubicBezTo>
                    <a:pt x="114435" y="76970"/>
                    <a:pt x="118415" y="80949"/>
                    <a:pt x="118415" y="85851"/>
                  </a:cubicBezTo>
                  <a:close/>
                  <a:moveTo>
                    <a:pt x="32564" y="130256"/>
                  </a:moveTo>
                  <a:cubicBezTo>
                    <a:pt x="27662" y="130256"/>
                    <a:pt x="23683" y="126277"/>
                    <a:pt x="23683" y="121375"/>
                  </a:cubicBezTo>
                  <a:cubicBezTo>
                    <a:pt x="23683" y="116474"/>
                    <a:pt x="27662" y="112494"/>
                    <a:pt x="32564" y="112494"/>
                  </a:cubicBezTo>
                  <a:cubicBezTo>
                    <a:pt x="37466" y="112494"/>
                    <a:pt x="41445" y="116474"/>
                    <a:pt x="41445" y="121375"/>
                  </a:cubicBezTo>
                  <a:cubicBezTo>
                    <a:pt x="41445" y="126277"/>
                    <a:pt x="37466" y="130256"/>
                    <a:pt x="32564" y="130256"/>
                  </a:cubicBezTo>
                  <a:close/>
                  <a:moveTo>
                    <a:pt x="79930" y="121375"/>
                  </a:moveTo>
                  <a:cubicBezTo>
                    <a:pt x="79930" y="126277"/>
                    <a:pt x="75951" y="130256"/>
                    <a:pt x="71049" y="130256"/>
                  </a:cubicBezTo>
                  <a:cubicBezTo>
                    <a:pt x="66147" y="130256"/>
                    <a:pt x="62168" y="126277"/>
                    <a:pt x="62168" y="121375"/>
                  </a:cubicBezTo>
                  <a:cubicBezTo>
                    <a:pt x="62168" y="116474"/>
                    <a:pt x="66147" y="112494"/>
                    <a:pt x="71049" y="112494"/>
                  </a:cubicBezTo>
                  <a:cubicBezTo>
                    <a:pt x="75951" y="112494"/>
                    <a:pt x="79930" y="116474"/>
                    <a:pt x="79930" y="121375"/>
                  </a:cubicBezTo>
                  <a:close/>
                  <a:moveTo>
                    <a:pt x="109534" y="130256"/>
                  </a:moveTo>
                  <a:cubicBezTo>
                    <a:pt x="104632" y="130256"/>
                    <a:pt x="100653" y="126277"/>
                    <a:pt x="100653" y="121375"/>
                  </a:cubicBezTo>
                  <a:cubicBezTo>
                    <a:pt x="100653" y="116474"/>
                    <a:pt x="104632" y="112494"/>
                    <a:pt x="109534" y="112494"/>
                  </a:cubicBezTo>
                  <a:cubicBezTo>
                    <a:pt x="114435" y="112494"/>
                    <a:pt x="118415" y="116474"/>
                    <a:pt x="118415" y="121375"/>
                  </a:cubicBezTo>
                  <a:cubicBezTo>
                    <a:pt x="118415" y="126277"/>
                    <a:pt x="114435" y="130256"/>
                    <a:pt x="109534" y="130256"/>
                  </a:cubicBezTo>
                  <a:close/>
                  <a:moveTo>
                    <a:pt x="23683" y="156900"/>
                  </a:moveTo>
                  <a:cubicBezTo>
                    <a:pt x="23683" y="151978"/>
                    <a:pt x="27642" y="148019"/>
                    <a:pt x="32564" y="148019"/>
                  </a:cubicBezTo>
                  <a:lnTo>
                    <a:pt x="74009" y="148019"/>
                  </a:lnTo>
                  <a:cubicBezTo>
                    <a:pt x="78931" y="148019"/>
                    <a:pt x="82890" y="151978"/>
                    <a:pt x="82890" y="156900"/>
                  </a:cubicBezTo>
                  <a:cubicBezTo>
                    <a:pt x="82890" y="161821"/>
                    <a:pt x="78931" y="165781"/>
                    <a:pt x="74009" y="165781"/>
                  </a:cubicBezTo>
                  <a:lnTo>
                    <a:pt x="32564" y="165781"/>
                  </a:lnTo>
                  <a:cubicBezTo>
                    <a:pt x="27642" y="165781"/>
                    <a:pt x="23683" y="161821"/>
                    <a:pt x="23683" y="156900"/>
                  </a:cubicBezTo>
                  <a:close/>
                  <a:moveTo>
                    <a:pt x="109534" y="148019"/>
                  </a:moveTo>
                  <a:cubicBezTo>
                    <a:pt x="114455" y="148019"/>
                    <a:pt x="118415" y="151978"/>
                    <a:pt x="118415" y="156900"/>
                  </a:cubicBezTo>
                  <a:cubicBezTo>
                    <a:pt x="118415" y="161821"/>
                    <a:pt x="114455" y="165781"/>
                    <a:pt x="109534" y="165781"/>
                  </a:cubicBezTo>
                  <a:cubicBezTo>
                    <a:pt x="104612" y="165781"/>
                    <a:pt x="100653" y="161821"/>
                    <a:pt x="100653" y="156900"/>
                  </a:cubicBezTo>
                  <a:cubicBezTo>
                    <a:pt x="100653" y="151978"/>
                    <a:pt x="104612" y="148019"/>
                    <a:pt x="109534" y="148019"/>
                  </a:cubicBezTo>
                  <a:close/>
                </a:path>
              </a:pathLst>
            </a:custGeom>
            <a:solidFill>
              <a:srgbClr val="1A365D"/>
            </a:solidFill>
            <a:ln/>
          </p:spPr>
        </p:sp>
        <p:sp>
          <p:nvSpPr>
            <p:cNvPr id="40" name="Text 18">
              <a:extLst>
                <a:ext uri="{FF2B5EF4-FFF2-40B4-BE49-F238E27FC236}">
                  <a16:creationId xmlns:a16="http://schemas.microsoft.com/office/drawing/2014/main" id="{18C3B9F6-9ED4-0272-931D-F30F5749A35D}"/>
                </a:ext>
              </a:extLst>
            </p:cNvPr>
            <p:cNvSpPr/>
            <p:nvPr/>
          </p:nvSpPr>
          <p:spPr>
            <a:xfrm>
              <a:off x="1174676" y="3751385"/>
              <a:ext cx="5920746" cy="2652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1A365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Unified Threat Scoring System</a:t>
              </a:r>
              <a:endParaRPr lang="en-US" sz="1500" dirty="0"/>
            </a:p>
          </p:txBody>
        </p:sp>
        <p:sp>
          <p:nvSpPr>
            <p:cNvPr id="41" name="Text 19">
              <a:extLst>
                <a:ext uri="{FF2B5EF4-FFF2-40B4-BE49-F238E27FC236}">
                  <a16:creationId xmlns:a16="http://schemas.microsoft.com/office/drawing/2014/main" id="{0A9ED186-77F1-8676-1157-910F8CA34D5C}"/>
                </a:ext>
              </a:extLst>
            </p:cNvPr>
            <p:cNvSpPr/>
            <p:nvPr/>
          </p:nvSpPr>
          <p:spPr>
            <a:xfrm>
              <a:off x="1174676" y="4054527"/>
              <a:ext cx="5911273" cy="4547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Proprietary weighted algorithm that </a:t>
              </a:r>
              <a:r>
                <a:rPr lang="en-US" sz="1400" b="1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aggregates threat indicators </a:t>
              </a:r>
              <a:r>
                <a:rPr lang="en-US" sz="1400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from all domains into a single score</a:t>
              </a:r>
              <a:endParaRPr lang="en-US"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2" name="Shape 20">
              <a:extLst>
                <a:ext uri="{FF2B5EF4-FFF2-40B4-BE49-F238E27FC236}">
                  <a16:creationId xmlns:a16="http://schemas.microsoft.com/office/drawing/2014/main" id="{9AD37905-AE0E-6BA2-8ECA-AEAD4EA40FB1}"/>
                </a:ext>
              </a:extLst>
            </p:cNvPr>
            <p:cNvSpPr/>
            <p:nvPr/>
          </p:nvSpPr>
          <p:spPr>
            <a:xfrm>
              <a:off x="397874" y="4812382"/>
              <a:ext cx="6763860" cy="1060998"/>
            </a:xfrm>
            <a:custGeom>
              <a:avLst/>
              <a:gdLst/>
              <a:ahLst/>
              <a:cxnLst/>
              <a:rect l="l" t="t" r="r" b="b"/>
              <a:pathLst>
                <a:path w="6763860" h="1060998">
                  <a:moveTo>
                    <a:pt x="37893" y="0"/>
                  </a:moveTo>
                  <a:lnTo>
                    <a:pt x="6688073" y="0"/>
                  </a:lnTo>
                  <a:cubicBezTo>
                    <a:pt x="6729929" y="0"/>
                    <a:pt x="6763860" y="33931"/>
                    <a:pt x="6763860" y="75787"/>
                  </a:cubicBezTo>
                  <a:lnTo>
                    <a:pt x="6763860" y="985211"/>
                  </a:lnTo>
                  <a:cubicBezTo>
                    <a:pt x="6763860" y="1027067"/>
                    <a:pt x="6729929" y="1060998"/>
                    <a:pt x="6688073" y="1060998"/>
                  </a:cubicBezTo>
                  <a:lnTo>
                    <a:pt x="37893" y="1060998"/>
                  </a:lnTo>
                  <a:cubicBezTo>
                    <a:pt x="16965" y="1060998"/>
                    <a:pt x="0" y="1044032"/>
                    <a:pt x="0" y="1023105"/>
                  </a:cubicBezTo>
                  <a:lnTo>
                    <a:pt x="0" y="37893"/>
                  </a:lnTo>
                  <a:cubicBezTo>
                    <a:pt x="0" y="16979"/>
                    <a:pt x="16979" y="0"/>
                    <a:pt x="37893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3" name="Shape 21">
              <a:extLst>
                <a:ext uri="{FF2B5EF4-FFF2-40B4-BE49-F238E27FC236}">
                  <a16:creationId xmlns:a16="http://schemas.microsoft.com/office/drawing/2014/main" id="{4F30D7EE-0EB2-2902-0720-B226F9141F5A}"/>
                </a:ext>
              </a:extLst>
            </p:cNvPr>
            <p:cNvSpPr/>
            <p:nvPr/>
          </p:nvSpPr>
          <p:spPr>
            <a:xfrm>
              <a:off x="397874" y="4812382"/>
              <a:ext cx="37893" cy="1060998"/>
            </a:xfrm>
            <a:custGeom>
              <a:avLst/>
              <a:gdLst/>
              <a:ahLst/>
              <a:cxnLst/>
              <a:rect l="l" t="t" r="r" b="b"/>
              <a:pathLst>
                <a:path w="37893" h="1060998">
                  <a:moveTo>
                    <a:pt x="37893" y="0"/>
                  </a:moveTo>
                  <a:lnTo>
                    <a:pt x="37893" y="0"/>
                  </a:lnTo>
                  <a:lnTo>
                    <a:pt x="37893" y="1060998"/>
                  </a:lnTo>
                  <a:lnTo>
                    <a:pt x="37893" y="1060998"/>
                  </a:lnTo>
                  <a:cubicBezTo>
                    <a:pt x="16965" y="1060998"/>
                    <a:pt x="0" y="1044032"/>
                    <a:pt x="0" y="1023105"/>
                  </a:cubicBezTo>
                  <a:lnTo>
                    <a:pt x="0" y="37893"/>
                  </a:lnTo>
                  <a:cubicBezTo>
                    <a:pt x="0" y="16965"/>
                    <a:pt x="16965" y="0"/>
                    <a:pt x="37893" y="0"/>
                  </a:cubicBezTo>
                  <a:close/>
                </a:path>
              </a:pathLst>
            </a:custGeom>
            <a:solidFill>
              <a:srgbClr val="1A365D"/>
            </a:solidFill>
            <a:ln/>
          </p:spPr>
        </p:sp>
        <p:sp>
          <p:nvSpPr>
            <p:cNvPr id="44" name="Shape 22">
              <a:extLst>
                <a:ext uri="{FF2B5EF4-FFF2-40B4-BE49-F238E27FC236}">
                  <a16:creationId xmlns:a16="http://schemas.microsoft.com/office/drawing/2014/main" id="{A5784030-6DC6-E53E-D94B-16276578BF03}"/>
                </a:ext>
              </a:extLst>
            </p:cNvPr>
            <p:cNvSpPr/>
            <p:nvPr/>
          </p:nvSpPr>
          <p:spPr>
            <a:xfrm>
              <a:off x="568392" y="4963953"/>
              <a:ext cx="454713" cy="757856"/>
            </a:xfrm>
            <a:custGeom>
              <a:avLst/>
              <a:gdLst/>
              <a:ahLst/>
              <a:cxnLst/>
              <a:rect l="l" t="t" r="r" b="b"/>
              <a:pathLst>
                <a:path w="454713" h="454713">
                  <a:moveTo>
                    <a:pt x="75787" y="0"/>
                  </a:moveTo>
                  <a:lnTo>
                    <a:pt x="378926" y="0"/>
                  </a:lnTo>
                  <a:cubicBezTo>
                    <a:pt x="420754" y="0"/>
                    <a:pt x="454713" y="33959"/>
                    <a:pt x="454713" y="75787"/>
                  </a:cubicBezTo>
                  <a:lnTo>
                    <a:pt x="454713" y="378926"/>
                  </a:lnTo>
                  <a:cubicBezTo>
                    <a:pt x="454713" y="420782"/>
                    <a:pt x="420782" y="454713"/>
                    <a:pt x="378926" y="454713"/>
                  </a:cubicBezTo>
                  <a:lnTo>
                    <a:pt x="75787" y="454713"/>
                  </a:lnTo>
                  <a:cubicBezTo>
                    <a:pt x="33931" y="454713"/>
                    <a:pt x="0" y="420782"/>
                    <a:pt x="0" y="378926"/>
                  </a:cubicBezTo>
                  <a:lnTo>
                    <a:pt x="0" y="75787"/>
                  </a:lnTo>
                  <a:cubicBezTo>
                    <a:pt x="0" y="33959"/>
                    <a:pt x="33959" y="0"/>
                    <a:pt x="75787" y="0"/>
                  </a:cubicBezTo>
                  <a:close/>
                </a:path>
              </a:pathLst>
            </a:custGeom>
            <a:solidFill>
              <a:srgbClr val="1A365D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5" name="Shape 23">
              <a:extLst>
                <a:ext uri="{FF2B5EF4-FFF2-40B4-BE49-F238E27FC236}">
                  <a16:creationId xmlns:a16="http://schemas.microsoft.com/office/drawing/2014/main" id="{C273E88B-EE76-DAAB-3ED0-3476EE6BA1F9}"/>
                </a:ext>
              </a:extLst>
            </p:cNvPr>
            <p:cNvSpPr/>
            <p:nvPr/>
          </p:nvSpPr>
          <p:spPr>
            <a:xfrm>
              <a:off x="703360" y="5127489"/>
              <a:ext cx="187120" cy="410889"/>
            </a:xfrm>
            <a:custGeom>
              <a:avLst/>
              <a:gdLst/>
              <a:ahLst/>
              <a:cxnLst/>
              <a:rect l="l" t="t" r="r" b="b"/>
              <a:pathLst>
                <a:path w="142098" h="189464">
                  <a:moveTo>
                    <a:pt x="0" y="23683"/>
                  </a:moveTo>
                  <a:cubicBezTo>
                    <a:pt x="0" y="10620"/>
                    <a:pt x="10620" y="0"/>
                    <a:pt x="23683" y="0"/>
                  </a:cubicBezTo>
                  <a:lnTo>
                    <a:pt x="79005" y="0"/>
                  </a:lnTo>
                  <a:cubicBezTo>
                    <a:pt x="85296" y="0"/>
                    <a:pt x="91328" y="2479"/>
                    <a:pt x="95768" y="6920"/>
                  </a:cubicBezTo>
                  <a:lnTo>
                    <a:pt x="135178" y="46367"/>
                  </a:lnTo>
                  <a:cubicBezTo>
                    <a:pt x="139619" y="50807"/>
                    <a:pt x="142098" y="56839"/>
                    <a:pt x="142098" y="63130"/>
                  </a:cubicBezTo>
                  <a:lnTo>
                    <a:pt x="142098" y="165781"/>
                  </a:lnTo>
                  <a:cubicBezTo>
                    <a:pt x="142098" y="178844"/>
                    <a:pt x="131478" y="189464"/>
                    <a:pt x="118415" y="189464"/>
                  </a:cubicBezTo>
                  <a:lnTo>
                    <a:pt x="23683" y="189464"/>
                  </a:lnTo>
                  <a:cubicBezTo>
                    <a:pt x="10620" y="189464"/>
                    <a:pt x="0" y="178844"/>
                    <a:pt x="0" y="165781"/>
                  </a:cubicBezTo>
                  <a:lnTo>
                    <a:pt x="0" y="23683"/>
                  </a:lnTo>
                  <a:close/>
                  <a:moveTo>
                    <a:pt x="76970" y="21648"/>
                  </a:moveTo>
                  <a:lnTo>
                    <a:pt x="76970" y="56247"/>
                  </a:lnTo>
                  <a:cubicBezTo>
                    <a:pt x="76970" y="61169"/>
                    <a:pt x="80929" y="65128"/>
                    <a:pt x="85851" y="65128"/>
                  </a:cubicBezTo>
                  <a:lnTo>
                    <a:pt x="120450" y="65128"/>
                  </a:lnTo>
                  <a:lnTo>
                    <a:pt x="76970" y="21648"/>
                  </a:lnTo>
                  <a:close/>
                  <a:moveTo>
                    <a:pt x="44406" y="94732"/>
                  </a:moveTo>
                  <a:cubicBezTo>
                    <a:pt x="39484" y="94732"/>
                    <a:pt x="35524" y="98691"/>
                    <a:pt x="35524" y="103613"/>
                  </a:cubicBezTo>
                  <a:cubicBezTo>
                    <a:pt x="35524" y="108535"/>
                    <a:pt x="39484" y="112494"/>
                    <a:pt x="44406" y="112494"/>
                  </a:cubicBezTo>
                  <a:lnTo>
                    <a:pt x="97692" y="112494"/>
                  </a:lnTo>
                  <a:cubicBezTo>
                    <a:pt x="102614" y="112494"/>
                    <a:pt x="106573" y="108535"/>
                    <a:pt x="106573" y="103613"/>
                  </a:cubicBezTo>
                  <a:cubicBezTo>
                    <a:pt x="106573" y="98691"/>
                    <a:pt x="102614" y="94732"/>
                    <a:pt x="97692" y="94732"/>
                  </a:cubicBezTo>
                  <a:lnTo>
                    <a:pt x="44406" y="94732"/>
                  </a:lnTo>
                  <a:close/>
                  <a:moveTo>
                    <a:pt x="44406" y="130256"/>
                  </a:moveTo>
                  <a:cubicBezTo>
                    <a:pt x="39484" y="130256"/>
                    <a:pt x="35524" y="134216"/>
                    <a:pt x="35524" y="139138"/>
                  </a:cubicBezTo>
                  <a:cubicBezTo>
                    <a:pt x="35524" y="144059"/>
                    <a:pt x="39484" y="148019"/>
                    <a:pt x="44406" y="148019"/>
                  </a:cubicBezTo>
                  <a:lnTo>
                    <a:pt x="97692" y="148019"/>
                  </a:lnTo>
                  <a:cubicBezTo>
                    <a:pt x="102614" y="148019"/>
                    <a:pt x="106573" y="144059"/>
                    <a:pt x="106573" y="139138"/>
                  </a:cubicBezTo>
                  <a:cubicBezTo>
                    <a:pt x="106573" y="134216"/>
                    <a:pt x="102614" y="130256"/>
                    <a:pt x="97692" y="130256"/>
                  </a:cubicBezTo>
                  <a:lnTo>
                    <a:pt x="44406" y="130256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6" name="Text 24">
              <a:extLst>
                <a:ext uri="{FF2B5EF4-FFF2-40B4-BE49-F238E27FC236}">
                  <a16:creationId xmlns:a16="http://schemas.microsoft.com/office/drawing/2014/main" id="{9B532B90-3835-1CC4-E19A-CBFE81CB5144}"/>
                </a:ext>
              </a:extLst>
            </p:cNvPr>
            <p:cNvSpPr/>
            <p:nvPr/>
          </p:nvSpPr>
          <p:spPr>
            <a:xfrm>
              <a:off x="1174676" y="4963953"/>
              <a:ext cx="5920746" cy="2652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1A365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Automated LLM Intelligence Reports</a:t>
              </a:r>
              <a:endParaRPr lang="en-US" sz="1500" dirty="0"/>
            </a:p>
          </p:txBody>
        </p:sp>
        <p:sp>
          <p:nvSpPr>
            <p:cNvPr id="47" name="Text 25">
              <a:extLst>
                <a:ext uri="{FF2B5EF4-FFF2-40B4-BE49-F238E27FC236}">
                  <a16:creationId xmlns:a16="http://schemas.microsoft.com/office/drawing/2014/main" id="{9324ECE5-24F7-0A38-343F-5C27057A3EC9}"/>
                </a:ext>
              </a:extLst>
            </p:cNvPr>
            <p:cNvSpPr/>
            <p:nvPr/>
          </p:nvSpPr>
          <p:spPr>
            <a:xfrm>
              <a:off x="1174676" y="5267096"/>
              <a:ext cx="5911273" cy="4547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Generates </a:t>
              </a:r>
              <a:r>
                <a:rPr lang="en-US" sz="1400" b="1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comprehensive, human-readable </a:t>
              </a:r>
              <a:r>
                <a:rPr lang="en-US" sz="1400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intelligence summaries using advanced language models</a:t>
              </a:r>
              <a:endParaRPr lang="en-US"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8" name="Shape 26">
              <a:extLst>
                <a:ext uri="{FF2B5EF4-FFF2-40B4-BE49-F238E27FC236}">
                  <a16:creationId xmlns:a16="http://schemas.microsoft.com/office/drawing/2014/main" id="{6DFB0297-8644-D09F-80AD-553DB8E1E65D}"/>
                </a:ext>
              </a:extLst>
            </p:cNvPr>
            <p:cNvSpPr/>
            <p:nvPr/>
          </p:nvSpPr>
          <p:spPr>
            <a:xfrm>
              <a:off x="397874" y="6024951"/>
              <a:ext cx="6763860" cy="833641"/>
            </a:xfrm>
            <a:custGeom>
              <a:avLst/>
              <a:gdLst/>
              <a:ahLst/>
              <a:cxnLst/>
              <a:rect l="l" t="t" r="r" b="b"/>
              <a:pathLst>
                <a:path w="6763860" h="833641">
                  <a:moveTo>
                    <a:pt x="37893" y="0"/>
                  </a:moveTo>
                  <a:lnTo>
                    <a:pt x="6688074" y="0"/>
                  </a:lnTo>
                  <a:cubicBezTo>
                    <a:pt x="6729929" y="0"/>
                    <a:pt x="6763860" y="33931"/>
                    <a:pt x="6763860" y="75786"/>
                  </a:cubicBezTo>
                  <a:lnTo>
                    <a:pt x="6763860" y="757855"/>
                  </a:lnTo>
                  <a:cubicBezTo>
                    <a:pt x="6763860" y="799710"/>
                    <a:pt x="6729929" y="833641"/>
                    <a:pt x="6688074" y="833641"/>
                  </a:cubicBezTo>
                  <a:lnTo>
                    <a:pt x="37893" y="833641"/>
                  </a:lnTo>
                  <a:cubicBezTo>
                    <a:pt x="16965" y="833641"/>
                    <a:pt x="0" y="816676"/>
                    <a:pt x="0" y="795748"/>
                  </a:cubicBezTo>
                  <a:lnTo>
                    <a:pt x="0" y="37893"/>
                  </a:lnTo>
                  <a:cubicBezTo>
                    <a:pt x="0" y="16965"/>
                    <a:pt x="16965" y="0"/>
                    <a:pt x="37893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9" name="Shape 27">
              <a:extLst>
                <a:ext uri="{FF2B5EF4-FFF2-40B4-BE49-F238E27FC236}">
                  <a16:creationId xmlns:a16="http://schemas.microsoft.com/office/drawing/2014/main" id="{D391AD7B-5EA7-B89A-7479-49FE5349FC99}"/>
                </a:ext>
              </a:extLst>
            </p:cNvPr>
            <p:cNvSpPr/>
            <p:nvPr/>
          </p:nvSpPr>
          <p:spPr>
            <a:xfrm>
              <a:off x="397874" y="6024951"/>
              <a:ext cx="37893" cy="833641"/>
            </a:xfrm>
            <a:custGeom>
              <a:avLst/>
              <a:gdLst/>
              <a:ahLst/>
              <a:cxnLst/>
              <a:rect l="l" t="t" r="r" b="b"/>
              <a:pathLst>
                <a:path w="37893" h="833641">
                  <a:moveTo>
                    <a:pt x="37893" y="0"/>
                  </a:moveTo>
                  <a:lnTo>
                    <a:pt x="37893" y="0"/>
                  </a:lnTo>
                  <a:lnTo>
                    <a:pt x="37893" y="833641"/>
                  </a:lnTo>
                  <a:lnTo>
                    <a:pt x="37893" y="833641"/>
                  </a:lnTo>
                  <a:cubicBezTo>
                    <a:pt x="16965" y="833641"/>
                    <a:pt x="0" y="816676"/>
                    <a:pt x="0" y="795748"/>
                  </a:cubicBezTo>
                  <a:lnTo>
                    <a:pt x="0" y="37893"/>
                  </a:lnTo>
                  <a:cubicBezTo>
                    <a:pt x="0" y="16965"/>
                    <a:pt x="16965" y="0"/>
                    <a:pt x="37893" y="0"/>
                  </a:cubicBezTo>
                  <a:close/>
                </a:path>
              </a:pathLst>
            </a:custGeom>
            <a:solidFill>
              <a:srgbClr val="0D9488"/>
            </a:solidFill>
            <a:ln/>
          </p:spPr>
        </p:sp>
        <p:sp>
          <p:nvSpPr>
            <p:cNvPr id="50" name="Shape 28">
              <a:extLst>
                <a:ext uri="{FF2B5EF4-FFF2-40B4-BE49-F238E27FC236}">
                  <a16:creationId xmlns:a16="http://schemas.microsoft.com/office/drawing/2014/main" id="{FBCEC005-B4B9-A4FD-047D-5772F6EE02CF}"/>
                </a:ext>
              </a:extLst>
            </p:cNvPr>
            <p:cNvSpPr/>
            <p:nvPr/>
          </p:nvSpPr>
          <p:spPr>
            <a:xfrm>
              <a:off x="568392" y="6176522"/>
              <a:ext cx="454713" cy="645795"/>
            </a:xfrm>
            <a:custGeom>
              <a:avLst/>
              <a:gdLst/>
              <a:ahLst/>
              <a:cxnLst/>
              <a:rect l="l" t="t" r="r" b="b"/>
              <a:pathLst>
                <a:path w="454713" h="454713">
                  <a:moveTo>
                    <a:pt x="75787" y="0"/>
                  </a:moveTo>
                  <a:lnTo>
                    <a:pt x="378926" y="0"/>
                  </a:lnTo>
                  <a:cubicBezTo>
                    <a:pt x="420754" y="0"/>
                    <a:pt x="454713" y="33959"/>
                    <a:pt x="454713" y="75787"/>
                  </a:cubicBezTo>
                  <a:lnTo>
                    <a:pt x="454713" y="378926"/>
                  </a:lnTo>
                  <a:cubicBezTo>
                    <a:pt x="454713" y="420782"/>
                    <a:pt x="420782" y="454713"/>
                    <a:pt x="378926" y="454713"/>
                  </a:cubicBezTo>
                  <a:lnTo>
                    <a:pt x="75787" y="454713"/>
                  </a:lnTo>
                  <a:cubicBezTo>
                    <a:pt x="33931" y="454713"/>
                    <a:pt x="0" y="420782"/>
                    <a:pt x="0" y="378926"/>
                  </a:cubicBezTo>
                  <a:lnTo>
                    <a:pt x="0" y="75787"/>
                  </a:lnTo>
                  <a:cubicBezTo>
                    <a:pt x="0" y="33959"/>
                    <a:pt x="33959" y="0"/>
                    <a:pt x="75787" y="0"/>
                  </a:cubicBezTo>
                  <a:close/>
                </a:path>
              </a:pathLst>
            </a:custGeom>
            <a:solidFill>
              <a:srgbClr val="0D9488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1" name="Shape 29">
              <a:extLst>
                <a:ext uri="{FF2B5EF4-FFF2-40B4-BE49-F238E27FC236}">
                  <a16:creationId xmlns:a16="http://schemas.microsoft.com/office/drawing/2014/main" id="{38CD7696-432E-DEBF-0955-A6D3774574A5}"/>
                </a:ext>
              </a:extLst>
            </p:cNvPr>
            <p:cNvSpPr/>
            <p:nvPr/>
          </p:nvSpPr>
          <p:spPr>
            <a:xfrm>
              <a:off x="684348" y="6292146"/>
              <a:ext cx="233272" cy="397875"/>
            </a:xfrm>
            <a:custGeom>
              <a:avLst/>
              <a:gdLst/>
              <a:ahLst/>
              <a:cxnLst/>
              <a:rect l="l" t="t" r="r" b="b"/>
              <a:pathLst>
                <a:path w="189464" h="189464">
                  <a:moveTo>
                    <a:pt x="105093" y="-481"/>
                  </a:moveTo>
                  <a:cubicBezTo>
                    <a:pt x="98691" y="-4182"/>
                    <a:pt x="90772" y="-4182"/>
                    <a:pt x="84371" y="-481"/>
                  </a:cubicBezTo>
                  <a:lnTo>
                    <a:pt x="53213" y="17503"/>
                  </a:lnTo>
                  <a:cubicBezTo>
                    <a:pt x="46811" y="21204"/>
                    <a:pt x="42851" y="28050"/>
                    <a:pt x="42851" y="35450"/>
                  </a:cubicBezTo>
                  <a:lnTo>
                    <a:pt x="42851" y="73158"/>
                  </a:lnTo>
                  <a:lnTo>
                    <a:pt x="10176" y="92031"/>
                  </a:lnTo>
                  <a:cubicBezTo>
                    <a:pt x="3774" y="95731"/>
                    <a:pt x="-185" y="102577"/>
                    <a:pt x="-185" y="109978"/>
                  </a:cubicBezTo>
                  <a:lnTo>
                    <a:pt x="-185" y="145983"/>
                  </a:lnTo>
                  <a:cubicBezTo>
                    <a:pt x="-185" y="153384"/>
                    <a:pt x="3774" y="160230"/>
                    <a:pt x="10176" y="163931"/>
                  </a:cubicBezTo>
                  <a:lnTo>
                    <a:pt x="41371" y="181915"/>
                  </a:lnTo>
                  <a:cubicBezTo>
                    <a:pt x="47773" y="185615"/>
                    <a:pt x="55692" y="185615"/>
                    <a:pt x="62094" y="181915"/>
                  </a:cubicBezTo>
                  <a:lnTo>
                    <a:pt x="94769" y="163043"/>
                  </a:lnTo>
                  <a:lnTo>
                    <a:pt x="127444" y="181915"/>
                  </a:lnTo>
                  <a:cubicBezTo>
                    <a:pt x="133846" y="185615"/>
                    <a:pt x="141765" y="185615"/>
                    <a:pt x="148167" y="181915"/>
                  </a:cubicBezTo>
                  <a:lnTo>
                    <a:pt x="179288" y="163931"/>
                  </a:lnTo>
                  <a:cubicBezTo>
                    <a:pt x="185689" y="160230"/>
                    <a:pt x="189649" y="153384"/>
                    <a:pt x="189649" y="145983"/>
                  </a:cubicBezTo>
                  <a:lnTo>
                    <a:pt x="189649" y="109978"/>
                  </a:lnTo>
                  <a:cubicBezTo>
                    <a:pt x="189649" y="102577"/>
                    <a:pt x="185689" y="95731"/>
                    <a:pt x="179288" y="92031"/>
                  </a:cubicBezTo>
                  <a:lnTo>
                    <a:pt x="146612" y="73158"/>
                  </a:lnTo>
                  <a:lnTo>
                    <a:pt x="146612" y="35450"/>
                  </a:lnTo>
                  <a:cubicBezTo>
                    <a:pt x="146612" y="28050"/>
                    <a:pt x="142653" y="21204"/>
                    <a:pt x="136251" y="17503"/>
                  </a:cubicBezTo>
                  <a:lnTo>
                    <a:pt x="105093" y="-481"/>
                  </a:lnTo>
                  <a:close/>
                  <a:moveTo>
                    <a:pt x="85851" y="108276"/>
                  </a:moveTo>
                  <a:lnTo>
                    <a:pt x="85851" y="147686"/>
                  </a:lnTo>
                  <a:lnTo>
                    <a:pt x="53176" y="166558"/>
                  </a:lnTo>
                  <a:cubicBezTo>
                    <a:pt x="52732" y="166817"/>
                    <a:pt x="52214" y="166965"/>
                    <a:pt x="51696" y="166965"/>
                  </a:cubicBezTo>
                  <a:lnTo>
                    <a:pt x="51696" y="127999"/>
                  </a:lnTo>
                  <a:lnTo>
                    <a:pt x="85851" y="108276"/>
                  </a:lnTo>
                  <a:close/>
                  <a:moveTo>
                    <a:pt x="171480" y="108498"/>
                  </a:moveTo>
                  <a:cubicBezTo>
                    <a:pt x="171739" y="108942"/>
                    <a:pt x="171887" y="109460"/>
                    <a:pt x="171887" y="109978"/>
                  </a:cubicBezTo>
                  <a:lnTo>
                    <a:pt x="171887" y="145983"/>
                  </a:lnTo>
                  <a:cubicBezTo>
                    <a:pt x="171887" y="147057"/>
                    <a:pt x="171332" y="148019"/>
                    <a:pt x="170406" y="148537"/>
                  </a:cubicBezTo>
                  <a:lnTo>
                    <a:pt x="139212" y="166521"/>
                  </a:lnTo>
                  <a:cubicBezTo>
                    <a:pt x="138767" y="166780"/>
                    <a:pt x="138249" y="166928"/>
                    <a:pt x="137731" y="166928"/>
                  </a:cubicBezTo>
                  <a:lnTo>
                    <a:pt x="137731" y="127962"/>
                  </a:lnTo>
                  <a:lnTo>
                    <a:pt x="171480" y="108498"/>
                  </a:lnTo>
                  <a:close/>
                  <a:moveTo>
                    <a:pt x="128887" y="35450"/>
                  </a:moveTo>
                  <a:lnTo>
                    <a:pt x="128887" y="73158"/>
                  </a:lnTo>
                  <a:lnTo>
                    <a:pt x="94732" y="92882"/>
                  </a:lnTo>
                  <a:lnTo>
                    <a:pt x="94732" y="53472"/>
                  </a:lnTo>
                  <a:lnTo>
                    <a:pt x="128480" y="34007"/>
                  </a:lnTo>
                  <a:cubicBezTo>
                    <a:pt x="128739" y="34451"/>
                    <a:pt x="128887" y="34969"/>
                    <a:pt x="128887" y="35487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52" name="Text 30">
              <a:extLst>
                <a:ext uri="{FF2B5EF4-FFF2-40B4-BE49-F238E27FC236}">
                  <a16:creationId xmlns:a16="http://schemas.microsoft.com/office/drawing/2014/main" id="{91E275AE-961B-A886-92B8-8EDB753D36D9}"/>
                </a:ext>
              </a:extLst>
            </p:cNvPr>
            <p:cNvSpPr/>
            <p:nvPr/>
          </p:nvSpPr>
          <p:spPr>
            <a:xfrm>
              <a:off x="1174676" y="6176522"/>
              <a:ext cx="5920746" cy="2652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1A365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Modular &amp; Scalable Architecture</a:t>
              </a:r>
              <a:endParaRPr lang="en-US" sz="1500" dirty="0"/>
            </a:p>
          </p:txBody>
        </p:sp>
        <p:sp>
          <p:nvSpPr>
            <p:cNvPr id="53" name="Text 31">
              <a:extLst>
                <a:ext uri="{FF2B5EF4-FFF2-40B4-BE49-F238E27FC236}">
                  <a16:creationId xmlns:a16="http://schemas.microsoft.com/office/drawing/2014/main" id="{6088EFB3-A8DE-9DD5-7E55-44A46892C691}"/>
                </a:ext>
              </a:extLst>
            </p:cNvPr>
            <p:cNvSpPr/>
            <p:nvPr/>
          </p:nvSpPr>
          <p:spPr>
            <a:xfrm>
              <a:off x="1174676" y="6479664"/>
              <a:ext cx="5911273" cy="2273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tx2">
                      <a:lumMod val="50000"/>
                    </a:scheme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Plugin-based design enables easy addition of new intelligence sources and AI models</a:t>
              </a:r>
              <a:endParaRPr lang="en-US"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74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8FB9-46E2-C60C-92BF-22CDB5C9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4F5E-09E4-89B4-39EB-7556D28E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7143B-C875-A4A1-E58E-319DCF092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BBB029A8-98E0-4E57-80DD-6D36B04F4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970DF77-BE14-CE10-0B50-6191FB44B6A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ED8712E-6DF1-09B5-902D-9AF580CECD5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5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D9DEF76F-CBFB-1ABB-0620-66518FD34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9EC2AC-5B66-5A6F-B955-120E873F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8774A5-3983-068B-F32E-8D20AF02C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63535A-4715-6023-8F45-4697755BE93E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>
                <a:latin typeface="Arial Rounded MT Bold" panose="020F0704030504030204" pitchFamily="34" charset="0"/>
              </a:rPr>
              <a:t>Technology Used</a:t>
            </a:r>
            <a:endParaRPr lang="en-US" sz="3000" b="1" kern="1200" dirty="0">
              <a:solidFill>
                <a:schemeClr val="tx2"/>
              </a:solidFill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E005E67-F019-51A5-34EF-25901F9E1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DEF9EA64-B8A6-6D34-CDF3-C252EA242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F5E976EA-8480-23C8-DDB2-E4E959D99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09BC0516-0B22-65CF-2A7B-5B7B325E4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982F7E74-CC9C-4776-1C91-75D14D576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A1F267AE-7039-7AAA-610C-B932FCC04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67304840-A971-834E-F7D8-973EE146378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CD3C47-FB45-34FD-67BB-14947EAE6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623FF4FB-E123-1FBD-1E9C-66CFCE366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79BD904-6C3E-E11F-7070-EEC4F0408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48D44DE1-C7FC-D524-9BC8-37489EF04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939ECBD1-5700-7DF0-71AC-4187AAAA20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6CCD3785-85D3-171F-7854-C97494395D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0EC9E7E-297B-1B20-8FD8-7562B761B0BF}"/>
              </a:ext>
            </a:extLst>
          </p:cNvPr>
          <p:cNvGrpSpPr/>
          <p:nvPr/>
        </p:nvGrpSpPr>
        <p:grpSpPr>
          <a:xfrm>
            <a:off x="237354" y="1649729"/>
            <a:ext cx="6305686" cy="4840664"/>
            <a:chOff x="167432" y="1878955"/>
            <a:chExt cx="5854204" cy="4477395"/>
          </a:xfrm>
        </p:grpSpPr>
        <p:sp>
          <p:nvSpPr>
            <p:cNvPr id="24" name="Shape 2">
              <a:extLst>
                <a:ext uri="{FF2B5EF4-FFF2-40B4-BE49-F238E27FC236}">
                  <a16:creationId xmlns:a16="http://schemas.microsoft.com/office/drawing/2014/main" id="{B23D63BA-B2C2-6347-233A-0261D28623BD}"/>
                </a:ext>
              </a:extLst>
            </p:cNvPr>
            <p:cNvSpPr/>
            <p:nvPr/>
          </p:nvSpPr>
          <p:spPr>
            <a:xfrm>
              <a:off x="167432" y="1878955"/>
              <a:ext cx="5854204" cy="994977"/>
            </a:xfrm>
            <a:custGeom>
              <a:avLst/>
              <a:gdLst/>
              <a:ahLst/>
              <a:cxnLst/>
              <a:rect l="l" t="t" r="r" b="b"/>
              <a:pathLst>
                <a:path w="5581650" h="914400">
                  <a:moveTo>
                    <a:pt x="38100" y="0"/>
                  </a:moveTo>
                  <a:lnTo>
                    <a:pt x="5505453" y="0"/>
                  </a:lnTo>
                  <a:cubicBezTo>
                    <a:pt x="5547535" y="0"/>
                    <a:pt x="5581650" y="34115"/>
                    <a:pt x="5581650" y="76197"/>
                  </a:cubicBezTo>
                  <a:lnTo>
                    <a:pt x="5581650" y="838203"/>
                  </a:lnTo>
                  <a:cubicBezTo>
                    <a:pt x="5581650" y="880285"/>
                    <a:pt x="5547535" y="914400"/>
                    <a:pt x="5505453" y="914400"/>
                  </a:cubicBezTo>
                  <a:lnTo>
                    <a:pt x="38100" y="914400"/>
                  </a:lnTo>
                  <a:cubicBezTo>
                    <a:pt x="17058" y="914400"/>
                    <a:pt x="0" y="897342"/>
                    <a:pt x="0" y="876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3B02FC2B-9C9C-3B57-1515-AC81EED3D85F}"/>
                </a:ext>
              </a:extLst>
            </p:cNvPr>
            <p:cNvSpPr/>
            <p:nvPr/>
          </p:nvSpPr>
          <p:spPr>
            <a:xfrm>
              <a:off x="167432" y="1878955"/>
              <a:ext cx="39960" cy="994977"/>
            </a:xfrm>
            <a:custGeom>
              <a:avLst/>
              <a:gdLst/>
              <a:ahLst/>
              <a:cxnLst/>
              <a:rect l="l" t="t" r="r" b="b"/>
              <a:pathLst>
                <a:path w="38100" h="914400">
                  <a:moveTo>
                    <a:pt x="38100" y="0"/>
                  </a:moveTo>
                  <a:lnTo>
                    <a:pt x="38100" y="0"/>
                  </a:lnTo>
                  <a:lnTo>
                    <a:pt x="38100" y="914400"/>
                  </a:lnTo>
                  <a:lnTo>
                    <a:pt x="38100" y="914400"/>
                  </a:lnTo>
                  <a:cubicBezTo>
                    <a:pt x="17072" y="914400"/>
                    <a:pt x="0" y="897328"/>
                    <a:pt x="0" y="876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1A365D"/>
            </a:solidFill>
            <a:ln/>
          </p:spPr>
        </p:sp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79EC5F5B-17E8-11FF-0049-761DF7A4A221}"/>
                </a:ext>
              </a:extLst>
            </p:cNvPr>
            <p:cNvSpPr/>
            <p:nvPr/>
          </p:nvSpPr>
          <p:spPr>
            <a:xfrm>
              <a:off x="392210" y="2065513"/>
              <a:ext cx="209792" cy="248744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96364" y="89520"/>
                  </a:moveTo>
                  <a:cubicBezTo>
                    <a:pt x="192926" y="75724"/>
                    <a:pt x="186407" y="65321"/>
                    <a:pt x="172522" y="65321"/>
                  </a:cubicBezTo>
                  <a:lnTo>
                    <a:pt x="154618" y="65321"/>
                  </a:lnTo>
                  <a:lnTo>
                    <a:pt x="154618" y="86484"/>
                  </a:lnTo>
                  <a:cubicBezTo>
                    <a:pt x="154618" y="102915"/>
                    <a:pt x="140687" y="116756"/>
                    <a:pt x="124792" y="116756"/>
                  </a:cubicBezTo>
                  <a:lnTo>
                    <a:pt x="77108" y="116756"/>
                  </a:lnTo>
                  <a:cubicBezTo>
                    <a:pt x="64071" y="116756"/>
                    <a:pt x="53266" y="127918"/>
                    <a:pt x="53266" y="141000"/>
                  </a:cubicBezTo>
                  <a:lnTo>
                    <a:pt x="53266" y="186452"/>
                  </a:lnTo>
                  <a:cubicBezTo>
                    <a:pt x="53266" y="199400"/>
                    <a:pt x="64517" y="206990"/>
                    <a:pt x="77108" y="210696"/>
                  </a:cubicBezTo>
                  <a:cubicBezTo>
                    <a:pt x="92199" y="215116"/>
                    <a:pt x="106710" y="215920"/>
                    <a:pt x="124792" y="210696"/>
                  </a:cubicBezTo>
                  <a:cubicBezTo>
                    <a:pt x="136803" y="207213"/>
                    <a:pt x="148635" y="200204"/>
                    <a:pt x="148635" y="186452"/>
                  </a:cubicBezTo>
                  <a:lnTo>
                    <a:pt x="148635" y="168280"/>
                  </a:lnTo>
                  <a:lnTo>
                    <a:pt x="100995" y="168280"/>
                  </a:lnTo>
                  <a:lnTo>
                    <a:pt x="100995" y="162208"/>
                  </a:lnTo>
                  <a:lnTo>
                    <a:pt x="172522" y="162208"/>
                  </a:lnTo>
                  <a:cubicBezTo>
                    <a:pt x="186407" y="162208"/>
                    <a:pt x="191542" y="152519"/>
                    <a:pt x="196364" y="138008"/>
                  </a:cubicBezTo>
                  <a:cubicBezTo>
                    <a:pt x="201364" y="123051"/>
                    <a:pt x="201141" y="108674"/>
                    <a:pt x="196364" y="89520"/>
                  </a:cubicBezTo>
                  <a:close/>
                  <a:moveTo>
                    <a:pt x="127784" y="198552"/>
                  </a:moveTo>
                  <a:cubicBezTo>
                    <a:pt x="124386" y="198790"/>
                    <a:pt x="121139" y="197112"/>
                    <a:pt x="119367" y="194203"/>
                  </a:cubicBezTo>
                  <a:cubicBezTo>
                    <a:pt x="117595" y="191293"/>
                    <a:pt x="117595" y="187638"/>
                    <a:pt x="119367" y="184729"/>
                  </a:cubicBezTo>
                  <a:cubicBezTo>
                    <a:pt x="121139" y="181819"/>
                    <a:pt x="124386" y="180141"/>
                    <a:pt x="127784" y="180380"/>
                  </a:cubicBezTo>
                  <a:cubicBezTo>
                    <a:pt x="131182" y="180141"/>
                    <a:pt x="134429" y="181819"/>
                    <a:pt x="136201" y="184729"/>
                  </a:cubicBezTo>
                  <a:cubicBezTo>
                    <a:pt x="137972" y="187638"/>
                    <a:pt x="137972" y="191293"/>
                    <a:pt x="136201" y="194203"/>
                  </a:cubicBezTo>
                  <a:cubicBezTo>
                    <a:pt x="134429" y="197112"/>
                    <a:pt x="131182" y="198790"/>
                    <a:pt x="127784" y="198552"/>
                  </a:cubicBezTo>
                  <a:close/>
                  <a:moveTo>
                    <a:pt x="74920" y="110773"/>
                  </a:moveTo>
                  <a:lnTo>
                    <a:pt x="122605" y="110773"/>
                  </a:lnTo>
                  <a:cubicBezTo>
                    <a:pt x="135865" y="110773"/>
                    <a:pt x="146447" y="99834"/>
                    <a:pt x="146447" y="86529"/>
                  </a:cubicBezTo>
                  <a:lnTo>
                    <a:pt x="146447" y="41032"/>
                  </a:lnTo>
                  <a:cubicBezTo>
                    <a:pt x="146447" y="28084"/>
                    <a:pt x="135553" y="18395"/>
                    <a:pt x="122605" y="16207"/>
                  </a:cubicBezTo>
                  <a:cubicBezTo>
                    <a:pt x="106620" y="13573"/>
                    <a:pt x="89252" y="13707"/>
                    <a:pt x="74920" y="16252"/>
                  </a:cubicBezTo>
                  <a:cubicBezTo>
                    <a:pt x="54739" y="19824"/>
                    <a:pt x="51078" y="27280"/>
                    <a:pt x="51078" y="41077"/>
                  </a:cubicBezTo>
                  <a:lnTo>
                    <a:pt x="51078" y="59248"/>
                  </a:lnTo>
                  <a:lnTo>
                    <a:pt x="98807" y="59248"/>
                  </a:lnTo>
                  <a:lnTo>
                    <a:pt x="98807" y="65321"/>
                  </a:lnTo>
                  <a:lnTo>
                    <a:pt x="33174" y="65321"/>
                  </a:lnTo>
                  <a:cubicBezTo>
                    <a:pt x="19288" y="65321"/>
                    <a:pt x="7144" y="73670"/>
                    <a:pt x="3349" y="89520"/>
                  </a:cubicBezTo>
                  <a:cubicBezTo>
                    <a:pt x="-1027" y="107692"/>
                    <a:pt x="-1206" y="119033"/>
                    <a:pt x="3349" y="138008"/>
                  </a:cubicBezTo>
                  <a:cubicBezTo>
                    <a:pt x="6742" y="152117"/>
                    <a:pt x="14823" y="162208"/>
                    <a:pt x="28709" y="162208"/>
                  </a:cubicBezTo>
                  <a:lnTo>
                    <a:pt x="45095" y="162208"/>
                  </a:lnTo>
                  <a:lnTo>
                    <a:pt x="45095" y="140419"/>
                  </a:lnTo>
                  <a:cubicBezTo>
                    <a:pt x="45095" y="124658"/>
                    <a:pt x="58713" y="110773"/>
                    <a:pt x="74920" y="110773"/>
                  </a:cubicBezTo>
                  <a:close/>
                  <a:moveTo>
                    <a:pt x="71973" y="28888"/>
                  </a:moveTo>
                  <a:cubicBezTo>
                    <a:pt x="77000" y="28888"/>
                    <a:pt x="81082" y="32969"/>
                    <a:pt x="81082" y="37996"/>
                  </a:cubicBezTo>
                  <a:cubicBezTo>
                    <a:pt x="81082" y="43023"/>
                    <a:pt x="77000" y="47104"/>
                    <a:pt x="71973" y="47104"/>
                  </a:cubicBezTo>
                  <a:cubicBezTo>
                    <a:pt x="66946" y="47104"/>
                    <a:pt x="62865" y="43023"/>
                    <a:pt x="62865" y="37996"/>
                  </a:cubicBezTo>
                  <a:cubicBezTo>
                    <a:pt x="62865" y="32969"/>
                    <a:pt x="66946" y="28888"/>
                    <a:pt x="71973" y="28888"/>
                  </a:cubicBezTo>
                  <a:close/>
                </a:path>
              </a:pathLst>
            </a:custGeom>
            <a:solidFill>
              <a:srgbClr val="1A365D"/>
            </a:solidFill>
            <a:ln/>
          </p:spPr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484CCB3E-BCA1-45F6-614B-7C6AD339326B}"/>
                </a:ext>
              </a:extLst>
            </p:cNvPr>
            <p:cNvSpPr/>
            <p:nvPr/>
          </p:nvSpPr>
          <p:spPr>
            <a:xfrm>
              <a:off x="766839" y="2044784"/>
              <a:ext cx="2167204" cy="2177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365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Intelligence (Python ML)</a:t>
              </a:r>
              <a:endParaRPr lang="en-US" dirty="0"/>
            </a:p>
          </p:txBody>
        </p:sp>
        <p:sp>
          <p:nvSpPr>
            <p:cNvPr id="29" name="Text 7">
              <a:extLst>
                <a:ext uri="{FF2B5EF4-FFF2-40B4-BE49-F238E27FC236}">
                  <a16:creationId xmlns:a16="http://schemas.microsoft.com/office/drawing/2014/main" id="{640916D7-D8C9-629E-872A-E9DB5AA9B9D4}"/>
                </a:ext>
              </a:extLst>
            </p:cNvPr>
            <p:cNvSpPr/>
            <p:nvPr/>
          </p:nvSpPr>
          <p:spPr>
            <a:xfrm>
              <a:off x="524875" y="2418092"/>
              <a:ext cx="970592" cy="293021"/>
            </a:xfrm>
            <a:prstGeom prst="rect">
              <a:avLst/>
            </a:prstGeom>
            <a:noFill/>
            <a:ln/>
          </p:spPr>
          <p:txBody>
            <a:bodyPr wrap="square" lIns="114300" tIns="38100" rIns="114300" bIns="38100" rtlCol="0" anchor="ctr"/>
            <a:lstStyle/>
            <a:p>
              <a:pPr>
                <a:lnSpc>
                  <a:spcPct val="120000"/>
                </a:lnSpc>
              </a:pPr>
              <a:endParaRPr lang="en-US" sz="1600" dirty="0"/>
            </a:p>
          </p:txBody>
        </p:sp>
        <p:sp>
          <p:nvSpPr>
            <p:cNvPr id="30" name="Shape 8">
              <a:extLst>
                <a:ext uri="{FF2B5EF4-FFF2-40B4-BE49-F238E27FC236}">
                  <a16:creationId xmlns:a16="http://schemas.microsoft.com/office/drawing/2014/main" id="{FB19356D-979F-E66B-22CA-5AA9C0C738C1}"/>
                </a:ext>
              </a:extLst>
            </p:cNvPr>
            <p:cNvSpPr/>
            <p:nvPr/>
          </p:nvSpPr>
          <p:spPr>
            <a:xfrm>
              <a:off x="167432" y="3039761"/>
              <a:ext cx="5854204" cy="994977"/>
            </a:xfrm>
            <a:custGeom>
              <a:avLst/>
              <a:gdLst/>
              <a:ahLst/>
              <a:cxnLst/>
              <a:rect l="l" t="t" r="r" b="b"/>
              <a:pathLst>
                <a:path w="5581650" h="914400">
                  <a:moveTo>
                    <a:pt x="38100" y="0"/>
                  </a:moveTo>
                  <a:lnTo>
                    <a:pt x="5505453" y="0"/>
                  </a:lnTo>
                  <a:cubicBezTo>
                    <a:pt x="5547535" y="0"/>
                    <a:pt x="5581650" y="34115"/>
                    <a:pt x="5581650" y="76197"/>
                  </a:cubicBezTo>
                  <a:lnTo>
                    <a:pt x="5581650" y="838203"/>
                  </a:lnTo>
                  <a:cubicBezTo>
                    <a:pt x="5581650" y="880285"/>
                    <a:pt x="5547535" y="914400"/>
                    <a:pt x="5505453" y="914400"/>
                  </a:cubicBezTo>
                  <a:lnTo>
                    <a:pt x="38100" y="914400"/>
                  </a:lnTo>
                  <a:cubicBezTo>
                    <a:pt x="17058" y="914400"/>
                    <a:pt x="0" y="897342"/>
                    <a:pt x="0" y="876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95878BB3-6C06-9DBF-A411-33504BE77942}"/>
                </a:ext>
              </a:extLst>
            </p:cNvPr>
            <p:cNvSpPr/>
            <p:nvPr/>
          </p:nvSpPr>
          <p:spPr>
            <a:xfrm>
              <a:off x="167432" y="3039761"/>
              <a:ext cx="39960" cy="994977"/>
            </a:xfrm>
            <a:custGeom>
              <a:avLst/>
              <a:gdLst/>
              <a:ahLst/>
              <a:cxnLst/>
              <a:rect l="l" t="t" r="r" b="b"/>
              <a:pathLst>
                <a:path w="38100" h="914400">
                  <a:moveTo>
                    <a:pt x="38100" y="0"/>
                  </a:moveTo>
                  <a:lnTo>
                    <a:pt x="38100" y="0"/>
                  </a:lnTo>
                  <a:lnTo>
                    <a:pt x="38100" y="914400"/>
                  </a:lnTo>
                  <a:lnTo>
                    <a:pt x="38100" y="914400"/>
                  </a:lnTo>
                  <a:cubicBezTo>
                    <a:pt x="17072" y="914400"/>
                    <a:pt x="0" y="897328"/>
                    <a:pt x="0" y="876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0D9488"/>
            </a:solidFill>
            <a:ln/>
          </p:spPr>
        </p:sp>
        <p:sp>
          <p:nvSpPr>
            <p:cNvPr id="32" name="Shape 10">
              <a:extLst>
                <a:ext uri="{FF2B5EF4-FFF2-40B4-BE49-F238E27FC236}">
                  <a16:creationId xmlns:a16="http://schemas.microsoft.com/office/drawing/2014/main" id="{A8B4C186-628C-AF30-9ACA-3CD9B1A742D4}"/>
                </a:ext>
              </a:extLst>
            </p:cNvPr>
            <p:cNvSpPr/>
            <p:nvPr/>
          </p:nvSpPr>
          <p:spPr>
            <a:xfrm>
              <a:off x="377224" y="3226319"/>
              <a:ext cx="239763" cy="248744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3578" y="25003"/>
                  </a:moveTo>
                  <a:cubicBezTo>
                    <a:pt x="53578" y="11207"/>
                    <a:pt x="64785" y="0"/>
                    <a:pt x="78581" y="0"/>
                  </a:cubicBezTo>
                  <a:lnTo>
                    <a:pt x="89297" y="0"/>
                  </a:lnTo>
                  <a:cubicBezTo>
                    <a:pt x="97200" y="0"/>
                    <a:pt x="103584" y="6385"/>
                    <a:pt x="103584" y="14288"/>
                  </a:cubicBezTo>
                  <a:lnTo>
                    <a:pt x="103584" y="214313"/>
                  </a:lnTo>
                  <a:cubicBezTo>
                    <a:pt x="103584" y="222215"/>
                    <a:pt x="97200" y="228600"/>
                    <a:pt x="89297" y="228600"/>
                  </a:cubicBezTo>
                  <a:lnTo>
                    <a:pt x="75009" y="228600"/>
                  </a:lnTo>
                  <a:cubicBezTo>
                    <a:pt x="61704" y="228600"/>
                    <a:pt x="50497" y="219492"/>
                    <a:pt x="47327" y="207169"/>
                  </a:cubicBezTo>
                  <a:cubicBezTo>
                    <a:pt x="47015" y="207169"/>
                    <a:pt x="46747" y="207169"/>
                    <a:pt x="46434" y="207169"/>
                  </a:cubicBezTo>
                  <a:cubicBezTo>
                    <a:pt x="26700" y="207169"/>
                    <a:pt x="10716" y="191185"/>
                    <a:pt x="10716" y="171450"/>
                  </a:cubicBezTo>
                  <a:cubicBezTo>
                    <a:pt x="10716" y="163413"/>
                    <a:pt x="13395" y="156002"/>
                    <a:pt x="17859" y="150019"/>
                  </a:cubicBezTo>
                  <a:cubicBezTo>
                    <a:pt x="9198" y="143500"/>
                    <a:pt x="3572" y="133142"/>
                    <a:pt x="3572" y="121444"/>
                  </a:cubicBezTo>
                  <a:cubicBezTo>
                    <a:pt x="3572" y="107647"/>
                    <a:pt x="11430" y="95637"/>
                    <a:pt x="22860" y="89699"/>
                  </a:cubicBezTo>
                  <a:cubicBezTo>
                    <a:pt x="19690" y="84341"/>
                    <a:pt x="17859" y="78090"/>
                    <a:pt x="17859" y="71438"/>
                  </a:cubicBezTo>
                  <a:cubicBezTo>
                    <a:pt x="17859" y="51703"/>
                    <a:pt x="33844" y="35719"/>
                    <a:pt x="53578" y="35719"/>
                  </a:cubicBezTo>
                  <a:lnTo>
                    <a:pt x="53578" y="25003"/>
                  </a:lnTo>
                  <a:close/>
                  <a:moveTo>
                    <a:pt x="175022" y="25003"/>
                  </a:moveTo>
                  <a:lnTo>
                    <a:pt x="175022" y="35719"/>
                  </a:lnTo>
                  <a:cubicBezTo>
                    <a:pt x="194756" y="35719"/>
                    <a:pt x="210741" y="51703"/>
                    <a:pt x="210741" y="71438"/>
                  </a:cubicBezTo>
                  <a:cubicBezTo>
                    <a:pt x="210741" y="78135"/>
                    <a:pt x="208910" y="84386"/>
                    <a:pt x="205740" y="89699"/>
                  </a:cubicBezTo>
                  <a:cubicBezTo>
                    <a:pt x="217215" y="95637"/>
                    <a:pt x="225028" y="107603"/>
                    <a:pt x="225028" y="121444"/>
                  </a:cubicBezTo>
                  <a:cubicBezTo>
                    <a:pt x="225028" y="133142"/>
                    <a:pt x="219402" y="143500"/>
                    <a:pt x="210741" y="150019"/>
                  </a:cubicBezTo>
                  <a:cubicBezTo>
                    <a:pt x="215205" y="156002"/>
                    <a:pt x="217884" y="163413"/>
                    <a:pt x="217884" y="171450"/>
                  </a:cubicBezTo>
                  <a:cubicBezTo>
                    <a:pt x="217884" y="191185"/>
                    <a:pt x="201900" y="207169"/>
                    <a:pt x="182166" y="207169"/>
                  </a:cubicBezTo>
                  <a:cubicBezTo>
                    <a:pt x="181853" y="207169"/>
                    <a:pt x="181585" y="207169"/>
                    <a:pt x="181273" y="207169"/>
                  </a:cubicBezTo>
                  <a:cubicBezTo>
                    <a:pt x="178103" y="219492"/>
                    <a:pt x="166896" y="228600"/>
                    <a:pt x="153591" y="228600"/>
                  </a:cubicBezTo>
                  <a:lnTo>
                    <a:pt x="139303" y="228600"/>
                  </a:lnTo>
                  <a:cubicBezTo>
                    <a:pt x="131400" y="228600"/>
                    <a:pt x="125016" y="222215"/>
                    <a:pt x="125016" y="214313"/>
                  </a:cubicBezTo>
                  <a:lnTo>
                    <a:pt x="125016" y="14288"/>
                  </a:lnTo>
                  <a:cubicBezTo>
                    <a:pt x="125016" y="6385"/>
                    <a:pt x="131400" y="0"/>
                    <a:pt x="139303" y="0"/>
                  </a:cubicBezTo>
                  <a:lnTo>
                    <a:pt x="150019" y="0"/>
                  </a:lnTo>
                  <a:cubicBezTo>
                    <a:pt x="163815" y="0"/>
                    <a:pt x="175022" y="11207"/>
                    <a:pt x="175022" y="25003"/>
                  </a:cubicBezTo>
                  <a:close/>
                </a:path>
              </a:pathLst>
            </a:custGeom>
            <a:solidFill>
              <a:srgbClr val="0D9488"/>
            </a:solidFill>
            <a:ln/>
          </p:spPr>
        </p:sp>
        <p:sp>
          <p:nvSpPr>
            <p:cNvPr id="33" name="Text 11">
              <a:extLst>
                <a:ext uri="{FF2B5EF4-FFF2-40B4-BE49-F238E27FC236}">
                  <a16:creationId xmlns:a16="http://schemas.microsoft.com/office/drawing/2014/main" id="{9431B6C7-717C-095A-DE33-192B6C417852}"/>
                </a:ext>
              </a:extLst>
            </p:cNvPr>
            <p:cNvSpPr/>
            <p:nvPr/>
          </p:nvSpPr>
          <p:spPr>
            <a:xfrm>
              <a:off x="766839" y="3205591"/>
              <a:ext cx="879130" cy="2902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365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Fusion</a:t>
              </a:r>
              <a:endParaRPr lang="en-US" dirty="0"/>
            </a:p>
          </p:txBody>
        </p:sp>
        <p:sp>
          <p:nvSpPr>
            <p:cNvPr id="37" name="Text 15">
              <a:extLst>
                <a:ext uri="{FF2B5EF4-FFF2-40B4-BE49-F238E27FC236}">
                  <a16:creationId xmlns:a16="http://schemas.microsoft.com/office/drawing/2014/main" id="{D69F1742-1925-4075-70ED-C33378BCFF68}"/>
                </a:ext>
              </a:extLst>
            </p:cNvPr>
            <p:cNvSpPr/>
            <p:nvPr/>
          </p:nvSpPr>
          <p:spPr>
            <a:xfrm>
              <a:off x="1007475" y="3578707"/>
              <a:ext cx="1258754" cy="290202"/>
            </a:xfrm>
            <a:prstGeom prst="rect">
              <a:avLst/>
            </a:prstGeom>
            <a:noFill/>
            <a:ln/>
          </p:spPr>
          <p:txBody>
            <a:bodyPr wrap="square" lIns="114300" tIns="38100" rIns="114300" bIns="38100" rtlCol="0" anchor="ctr"/>
            <a:lstStyle/>
            <a:p>
              <a:pPr>
                <a:lnSpc>
                  <a:spcPct val="120000"/>
                </a:lnSpc>
              </a:pPr>
              <a:endParaRPr lang="en-US" sz="1600" dirty="0"/>
            </a:p>
          </p:txBody>
        </p:sp>
        <p:sp>
          <p:nvSpPr>
            <p:cNvPr id="40" name="Shape 18">
              <a:extLst>
                <a:ext uri="{FF2B5EF4-FFF2-40B4-BE49-F238E27FC236}">
                  <a16:creationId xmlns:a16="http://schemas.microsoft.com/office/drawing/2014/main" id="{D571194A-696C-953F-A3D9-F5C1BAF1996E}"/>
                </a:ext>
              </a:extLst>
            </p:cNvPr>
            <p:cNvSpPr/>
            <p:nvPr/>
          </p:nvSpPr>
          <p:spPr>
            <a:xfrm>
              <a:off x="167432" y="4200567"/>
              <a:ext cx="5854204" cy="994977"/>
            </a:xfrm>
            <a:custGeom>
              <a:avLst/>
              <a:gdLst/>
              <a:ahLst/>
              <a:cxnLst/>
              <a:rect l="l" t="t" r="r" b="b"/>
              <a:pathLst>
                <a:path w="5581650" h="914400">
                  <a:moveTo>
                    <a:pt x="38100" y="0"/>
                  </a:moveTo>
                  <a:lnTo>
                    <a:pt x="5505453" y="0"/>
                  </a:lnTo>
                  <a:cubicBezTo>
                    <a:pt x="5547535" y="0"/>
                    <a:pt x="5581650" y="34115"/>
                    <a:pt x="5581650" y="76197"/>
                  </a:cubicBezTo>
                  <a:lnTo>
                    <a:pt x="5581650" y="838203"/>
                  </a:lnTo>
                  <a:cubicBezTo>
                    <a:pt x="5581650" y="880285"/>
                    <a:pt x="5547535" y="914400"/>
                    <a:pt x="5505453" y="914400"/>
                  </a:cubicBezTo>
                  <a:lnTo>
                    <a:pt x="38100" y="914400"/>
                  </a:lnTo>
                  <a:cubicBezTo>
                    <a:pt x="17058" y="914400"/>
                    <a:pt x="0" y="897342"/>
                    <a:pt x="0" y="876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1" name="Shape 19">
              <a:extLst>
                <a:ext uri="{FF2B5EF4-FFF2-40B4-BE49-F238E27FC236}">
                  <a16:creationId xmlns:a16="http://schemas.microsoft.com/office/drawing/2014/main" id="{AE802BFE-CA34-06ED-43A9-B6D9694149D3}"/>
                </a:ext>
              </a:extLst>
            </p:cNvPr>
            <p:cNvSpPr/>
            <p:nvPr/>
          </p:nvSpPr>
          <p:spPr>
            <a:xfrm>
              <a:off x="167432" y="4200567"/>
              <a:ext cx="39960" cy="994977"/>
            </a:xfrm>
            <a:custGeom>
              <a:avLst/>
              <a:gdLst/>
              <a:ahLst/>
              <a:cxnLst/>
              <a:rect l="l" t="t" r="r" b="b"/>
              <a:pathLst>
                <a:path w="38100" h="914400">
                  <a:moveTo>
                    <a:pt x="38100" y="0"/>
                  </a:moveTo>
                  <a:lnTo>
                    <a:pt x="38100" y="0"/>
                  </a:lnTo>
                  <a:lnTo>
                    <a:pt x="38100" y="914400"/>
                  </a:lnTo>
                  <a:lnTo>
                    <a:pt x="38100" y="914400"/>
                  </a:lnTo>
                  <a:cubicBezTo>
                    <a:pt x="17072" y="914400"/>
                    <a:pt x="0" y="897328"/>
                    <a:pt x="0" y="876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DD4BF"/>
            </a:solidFill>
            <a:ln/>
          </p:spPr>
        </p:sp>
        <p:sp>
          <p:nvSpPr>
            <p:cNvPr id="42" name="Shape 20">
              <a:extLst>
                <a:ext uri="{FF2B5EF4-FFF2-40B4-BE49-F238E27FC236}">
                  <a16:creationId xmlns:a16="http://schemas.microsoft.com/office/drawing/2014/main" id="{94C692E8-0A3B-0482-973F-5A0C35A500A1}"/>
                </a:ext>
              </a:extLst>
            </p:cNvPr>
            <p:cNvSpPr/>
            <p:nvPr/>
          </p:nvSpPr>
          <p:spPr>
            <a:xfrm>
              <a:off x="362240" y="4387125"/>
              <a:ext cx="269733" cy="248744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161092" y="536"/>
                  </a:moveTo>
                  <a:cubicBezTo>
                    <a:pt x="153501" y="-1652"/>
                    <a:pt x="145599" y="2768"/>
                    <a:pt x="143411" y="10358"/>
                  </a:cubicBezTo>
                  <a:lnTo>
                    <a:pt x="86261" y="210383"/>
                  </a:lnTo>
                  <a:cubicBezTo>
                    <a:pt x="84073" y="217974"/>
                    <a:pt x="88493" y="225876"/>
                    <a:pt x="96083" y="228064"/>
                  </a:cubicBezTo>
                  <a:cubicBezTo>
                    <a:pt x="103674" y="230252"/>
                    <a:pt x="111576" y="225832"/>
                    <a:pt x="113764" y="218242"/>
                  </a:cubicBezTo>
                  <a:lnTo>
                    <a:pt x="170914" y="18217"/>
                  </a:lnTo>
                  <a:cubicBezTo>
                    <a:pt x="173102" y="10626"/>
                    <a:pt x="168682" y="2724"/>
                    <a:pt x="161092" y="536"/>
                  </a:cubicBezTo>
                  <a:close/>
                  <a:moveTo>
                    <a:pt x="189934" y="61302"/>
                  </a:moveTo>
                  <a:cubicBezTo>
                    <a:pt x="184353" y="66883"/>
                    <a:pt x="184353" y="75947"/>
                    <a:pt x="189934" y="81528"/>
                  </a:cubicBezTo>
                  <a:lnTo>
                    <a:pt x="222706" y="114300"/>
                  </a:lnTo>
                  <a:lnTo>
                    <a:pt x="189934" y="147072"/>
                  </a:lnTo>
                  <a:cubicBezTo>
                    <a:pt x="184353" y="152653"/>
                    <a:pt x="184353" y="161717"/>
                    <a:pt x="189934" y="167298"/>
                  </a:cubicBezTo>
                  <a:cubicBezTo>
                    <a:pt x="195516" y="172879"/>
                    <a:pt x="204579" y="172879"/>
                    <a:pt x="210160" y="167298"/>
                  </a:cubicBezTo>
                  <a:lnTo>
                    <a:pt x="253023" y="124435"/>
                  </a:lnTo>
                  <a:cubicBezTo>
                    <a:pt x="258604" y="118854"/>
                    <a:pt x="258604" y="109791"/>
                    <a:pt x="253023" y="104209"/>
                  </a:cubicBezTo>
                  <a:lnTo>
                    <a:pt x="210160" y="61347"/>
                  </a:lnTo>
                  <a:cubicBezTo>
                    <a:pt x="204579" y="55766"/>
                    <a:pt x="195516" y="55766"/>
                    <a:pt x="189934" y="61347"/>
                  </a:cubicBezTo>
                  <a:close/>
                  <a:moveTo>
                    <a:pt x="67285" y="61302"/>
                  </a:moveTo>
                  <a:cubicBezTo>
                    <a:pt x="61704" y="55721"/>
                    <a:pt x="52641" y="55721"/>
                    <a:pt x="47059" y="61302"/>
                  </a:cubicBezTo>
                  <a:lnTo>
                    <a:pt x="4197" y="104165"/>
                  </a:lnTo>
                  <a:cubicBezTo>
                    <a:pt x="-1384" y="109746"/>
                    <a:pt x="-1384" y="118809"/>
                    <a:pt x="4197" y="124391"/>
                  </a:cubicBezTo>
                  <a:lnTo>
                    <a:pt x="47059" y="167253"/>
                  </a:lnTo>
                  <a:cubicBezTo>
                    <a:pt x="52641" y="172834"/>
                    <a:pt x="61704" y="172834"/>
                    <a:pt x="67285" y="167253"/>
                  </a:cubicBezTo>
                  <a:cubicBezTo>
                    <a:pt x="72866" y="161672"/>
                    <a:pt x="72866" y="152608"/>
                    <a:pt x="67285" y="147027"/>
                  </a:cubicBezTo>
                  <a:lnTo>
                    <a:pt x="34513" y="114300"/>
                  </a:lnTo>
                  <a:lnTo>
                    <a:pt x="67241" y="81528"/>
                  </a:lnTo>
                  <a:cubicBezTo>
                    <a:pt x="72822" y="75947"/>
                    <a:pt x="72822" y="66883"/>
                    <a:pt x="67241" y="61302"/>
                  </a:cubicBezTo>
                  <a:close/>
                </a:path>
              </a:pathLst>
            </a:custGeom>
            <a:solidFill>
              <a:srgbClr val="2DD4BF"/>
            </a:solidFill>
            <a:ln/>
          </p:spPr>
        </p:sp>
        <p:sp>
          <p:nvSpPr>
            <p:cNvPr id="43" name="Text 21">
              <a:extLst>
                <a:ext uri="{FF2B5EF4-FFF2-40B4-BE49-F238E27FC236}">
                  <a16:creationId xmlns:a16="http://schemas.microsoft.com/office/drawing/2014/main" id="{33EE120E-495F-9B20-1251-ECFA79B518C2}"/>
                </a:ext>
              </a:extLst>
            </p:cNvPr>
            <p:cNvSpPr/>
            <p:nvPr/>
          </p:nvSpPr>
          <p:spPr>
            <a:xfrm>
              <a:off x="766839" y="4366397"/>
              <a:ext cx="1986521" cy="2902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365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AI Report (LLM)</a:t>
              </a:r>
              <a:endParaRPr lang="en-US" dirty="0"/>
            </a:p>
          </p:txBody>
        </p:sp>
        <p:sp>
          <p:nvSpPr>
            <p:cNvPr id="50" name="Shape 28">
              <a:extLst>
                <a:ext uri="{FF2B5EF4-FFF2-40B4-BE49-F238E27FC236}">
                  <a16:creationId xmlns:a16="http://schemas.microsoft.com/office/drawing/2014/main" id="{EE342C05-43A6-0DBA-6493-6D81CEEBE7D0}"/>
                </a:ext>
              </a:extLst>
            </p:cNvPr>
            <p:cNvSpPr/>
            <p:nvPr/>
          </p:nvSpPr>
          <p:spPr>
            <a:xfrm>
              <a:off x="167432" y="5361373"/>
              <a:ext cx="5854204" cy="994977"/>
            </a:xfrm>
            <a:custGeom>
              <a:avLst/>
              <a:gdLst/>
              <a:ahLst/>
              <a:cxnLst/>
              <a:rect l="l" t="t" r="r" b="b"/>
              <a:pathLst>
                <a:path w="5581650" h="914400">
                  <a:moveTo>
                    <a:pt x="38100" y="0"/>
                  </a:moveTo>
                  <a:lnTo>
                    <a:pt x="5505453" y="0"/>
                  </a:lnTo>
                  <a:cubicBezTo>
                    <a:pt x="5547535" y="0"/>
                    <a:pt x="5581650" y="34115"/>
                    <a:pt x="5581650" y="76197"/>
                  </a:cubicBezTo>
                  <a:lnTo>
                    <a:pt x="5581650" y="838203"/>
                  </a:lnTo>
                  <a:cubicBezTo>
                    <a:pt x="5581650" y="880285"/>
                    <a:pt x="5547535" y="914400"/>
                    <a:pt x="5505453" y="914400"/>
                  </a:cubicBezTo>
                  <a:lnTo>
                    <a:pt x="38100" y="914400"/>
                  </a:lnTo>
                  <a:cubicBezTo>
                    <a:pt x="17058" y="914400"/>
                    <a:pt x="0" y="897342"/>
                    <a:pt x="0" y="876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1" name="Shape 29">
              <a:extLst>
                <a:ext uri="{FF2B5EF4-FFF2-40B4-BE49-F238E27FC236}">
                  <a16:creationId xmlns:a16="http://schemas.microsoft.com/office/drawing/2014/main" id="{62A31DAF-61EC-9F5C-4A84-F8E68FFA4177}"/>
                </a:ext>
              </a:extLst>
            </p:cNvPr>
            <p:cNvSpPr/>
            <p:nvPr/>
          </p:nvSpPr>
          <p:spPr>
            <a:xfrm>
              <a:off x="167432" y="5361373"/>
              <a:ext cx="39960" cy="994977"/>
            </a:xfrm>
            <a:custGeom>
              <a:avLst/>
              <a:gdLst/>
              <a:ahLst/>
              <a:cxnLst/>
              <a:rect l="l" t="t" r="r" b="b"/>
              <a:pathLst>
                <a:path w="38100" h="914400">
                  <a:moveTo>
                    <a:pt x="38100" y="0"/>
                  </a:moveTo>
                  <a:lnTo>
                    <a:pt x="38100" y="0"/>
                  </a:lnTo>
                  <a:lnTo>
                    <a:pt x="38100" y="914400"/>
                  </a:lnTo>
                  <a:lnTo>
                    <a:pt x="38100" y="914400"/>
                  </a:lnTo>
                  <a:cubicBezTo>
                    <a:pt x="17072" y="914400"/>
                    <a:pt x="0" y="897328"/>
                    <a:pt x="0" y="876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1A365D"/>
            </a:solidFill>
            <a:ln/>
          </p:spPr>
        </p:sp>
        <p:sp>
          <p:nvSpPr>
            <p:cNvPr id="52" name="Shape 30">
              <a:extLst>
                <a:ext uri="{FF2B5EF4-FFF2-40B4-BE49-F238E27FC236}">
                  <a16:creationId xmlns:a16="http://schemas.microsoft.com/office/drawing/2014/main" id="{057F2311-9699-236A-10D5-8407384B7FDB}"/>
                </a:ext>
              </a:extLst>
            </p:cNvPr>
            <p:cNvSpPr/>
            <p:nvPr/>
          </p:nvSpPr>
          <p:spPr>
            <a:xfrm>
              <a:off x="377224" y="5547931"/>
              <a:ext cx="239763" cy="248744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21431"/>
                  </a:moveTo>
                  <a:cubicBezTo>
                    <a:pt x="228600" y="16475"/>
                    <a:pt x="226055" y="11876"/>
                    <a:pt x="221813" y="9287"/>
                  </a:cubicBezTo>
                  <a:cubicBezTo>
                    <a:pt x="217572" y="6697"/>
                    <a:pt x="212348" y="6429"/>
                    <a:pt x="207928" y="8662"/>
                  </a:cubicBezTo>
                  <a:lnTo>
                    <a:pt x="156046" y="34603"/>
                  </a:lnTo>
                  <a:lnTo>
                    <a:pt x="75947" y="7858"/>
                  </a:lnTo>
                  <a:cubicBezTo>
                    <a:pt x="72330" y="6653"/>
                    <a:pt x="68446" y="6921"/>
                    <a:pt x="65053" y="8617"/>
                  </a:cubicBezTo>
                  <a:lnTo>
                    <a:pt x="7903" y="37192"/>
                  </a:lnTo>
                  <a:cubicBezTo>
                    <a:pt x="3036" y="39648"/>
                    <a:pt x="0" y="44604"/>
                    <a:pt x="0" y="50006"/>
                  </a:cubicBezTo>
                  <a:lnTo>
                    <a:pt x="0" y="207169"/>
                  </a:lnTo>
                  <a:cubicBezTo>
                    <a:pt x="0" y="212125"/>
                    <a:pt x="2545" y="216724"/>
                    <a:pt x="6787" y="219313"/>
                  </a:cubicBezTo>
                  <a:cubicBezTo>
                    <a:pt x="11028" y="221903"/>
                    <a:pt x="16252" y="222171"/>
                    <a:pt x="20672" y="219938"/>
                  </a:cubicBezTo>
                  <a:lnTo>
                    <a:pt x="72509" y="193997"/>
                  </a:lnTo>
                  <a:lnTo>
                    <a:pt x="152608" y="220697"/>
                  </a:lnTo>
                  <a:cubicBezTo>
                    <a:pt x="156225" y="221903"/>
                    <a:pt x="160109" y="221635"/>
                    <a:pt x="163503" y="219938"/>
                  </a:cubicBezTo>
                  <a:lnTo>
                    <a:pt x="220653" y="191363"/>
                  </a:lnTo>
                  <a:cubicBezTo>
                    <a:pt x="225475" y="188952"/>
                    <a:pt x="228555" y="183996"/>
                    <a:pt x="228555" y="178594"/>
                  </a:cubicBezTo>
                  <a:lnTo>
                    <a:pt x="228555" y="21431"/>
                  </a:lnTo>
                  <a:close/>
                  <a:moveTo>
                    <a:pt x="85725" y="168280"/>
                  </a:moveTo>
                  <a:lnTo>
                    <a:pt x="85725" y="41255"/>
                  </a:lnTo>
                  <a:lnTo>
                    <a:pt x="142875" y="60320"/>
                  </a:lnTo>
                  <a:lnTo>
                    <a:pt x="142875" y="187345"/>
                  </a:lnTo>
                  <a:lnTo>
                    <a:pt x="85725" y="168280"/>
                  </a:lnTo>
                  <a:close/>
                </a:path>
              </a:pathLst>
            </a:custGeom>
            <a:solidFill>
              <a:srgbClr val="1A365D"/>
            </a:solidFill>
            <a:ln/>
          </p:spPr>
        </p:sp>
        <p:sp>
          <p:nvSpPr>
            <p:cNvPr id="53" name="Text 31">
              <a:extLst>
                <a:ext uri="{FF2B5EF4-FFF2-40B4-BE49-F238E27FC236}">
                  <a16:creationId xmlns:a16="http://schemas.microsoft.com/office/drawing/2014/main" id="{97843848-7CEB-9AAC-94C2-EE2669900C88}"/>
                </a:ext>
              </a:extLst>
            </p:cNvPr>
            <p:cNvSpPr/>
            <p:nvPr/>
          </p:nvSpPr>
          <p:spPr>
            <a:xfrm>
              <a:off x="766839" y="5527203"/>
              <a:ext cx="929080" cy="2902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365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UI</a:t>
              </a:r>
              <a:endParaRPr lang="en-US" sz="1600" dirty="0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12046872-C9C7-A069-5CC6-A06DE8084809}"/>
                </a:ext>
              </a:extLst>
            </p:cNvPr>
            <p:cNvSpPr/>
            <p:nvPr/>
          </p:nvSpPr>
          <p:spPr>
            <a:xfrm>
              <a:off x="726878" y="3569642"/>
              <a:ext cx="3566710" cy="362140"/>
            </a:xfrm>
            <a:prstGeom prst="roundRect">
              <a:avLst/>
            </a:prstGeom>
            <a:solidFill>
              <a:srgbClr val="0D948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err="1">
                  <a:solidFill>
                    <a:schemeClr val="bg1"/>
                  </a:solidFill>
                </a:rPr>
                <a:t>XGBoost</a:t>
              </a:r>
              <a:r>
                <a:rPr lang="en-IN" dirty="0">
                  <a:solidFill>
                    <a:schemeClr val="bg1"/>
                  </a:solidFill>
                </a:rPr>
                <a:t> Regressor</a:t>
              </a:r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A2E00350-966D-1A3D-7D74-7158006CA0A0}"/>
                </a:ext>
              </a:extLst>
            </p:cNvPr>
            <p:cNvSpPr/>
            <p:nvPr/>
          </p:nvSpPr>
          <p:spPr>
            <a:xfrm>
              <a:off x="728664" y="2447622"/>
              <a:ext cx="1135299" cy="342877"/>
            </a:xfrm>
            <a:prstGeom prst="roundRect">
              <a:avLst/>
            </a:prstGeom>
            <a:solidFill>
              <a:srgbClr val="1A36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XGBoost</a:t>
              </a:r>
              <a:r>
                <a:rPr lang="en-IN" dirty="0"/>
                <a:t> </a:t>
              </a:r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13FAAA19-1791-6086-7AA4-7D83692A795E}"/>
                </a:ext>
              </a:extLst>
            </p:cNvPr>
            <p:cNvSpPr/>
            <p:nvPr/>
          </p:nvSpPr>
          <p:spPr>
            <a:xfrm>
              <a:off x="2004507" y="2445933"/>
              <a:ext cx="1341120" cy="346032"/>
            </a:xfrm>
            <a:prstGeom prst="roundRect">
              <a:avLst/>
            </a:prstGeom>
            <a:solidFill>
              <a:srgbClr val="1A36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SBERT</a:t>
              </a:r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AA30BDE3-97A2-CA39-6D2B-2901FFFA0123}"/>
                </a:ext>
              </a:extLst>
            </p:cNvPr>
            <p:cNvSpPr/>
            <p:nvPr/>
          </p:nvSpPr>
          <p:spPr>
            <a:xfrm>
              <a:off x="3465935" y="2445933"/>
              <a:ext cx="1676807" cy="346032"/>
            </a:xfrm>
            <a:prstGeom prst="roundRect">
              <a:avLst/>
            </a:prstGeom>
            <a:solidFill>
              <a:srgbClr val="1A36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Isolation Forest</a:t>
              </a: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E48BFE72-FE42-DA1B-4618-54D2E5C9EAFA}"/>
                </a:ext>
              </a:extLst>
            </p:cNvPr>
            <p:cNvSpPr/>
            <p:nvPr/>
          </p:nvSpPr>
          <p:spPr>
            <a:xfrm>
              <a:off x="741042" y="4743415"/>
              <a:ext cx="1135299" cy="342877"/>
            </a:xfrm>
            <a:prstGeom prst="roundRect">
              <a:avLst/>
            </a:prstGeom>
            <a:solidFill>
              <a:srgbClr val="2DD4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rgbClr val="FFFFFF"/>
                  </a:solidFill>
                  <a:latin typeface="Liter" pitchFamily="34" charset="0"/>
                </a:rPr>
                <a:t>Ollama</a:t>
              </a:r>
              <a:endParaRPr lang="en-IN" dirty="0"/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C65B8078-77CF-0441-1ED6-D4D68A13D6FE}"/>
                </a:ext>
              </a:extLst>
            </p:cNvPr>
            <p:cNvSpPr/>
            <p:nvPr/>
          </p:nvSpPr>
          <p:spPr>
            <a:xfrm>
              <a:off x="2216750" y="5843962"/>
              <a:ext cx="1643499" cy="346032"/>
            </a:xfrm>
            <a:prstGeom prst="roundRect">
              <a:avLst/>
            </a:prstGeom>
            <a:solidFill>
              <a:srgbClr val="1A36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Folium/Plotly</a:t>
              </a: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744AE717-4391-F947-FF89-BD9628A48E86}"/>
                </a:ext>
              </a:extLst>
            </p:cNvPr>
            <p:cNvSpPr/>
            <p:nvPr/>
          </p:nvSpPr>
          <p:spPr>
            <a:xfrm>
              <a:off x="732257" y="5837303"/>
              <a:ext cx="1341120" cy="346032"/>
            </a:xfrm>
            <a:prstGeom prst="roundRect">
              <a:avLst/>
            </a:prstGeom>
            <a:solidFill>
              <a:srgbClr val="1A36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Streamlit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EE76BC79-802F-AF3E-0220-BB49DC40792D}"/>
              </a:ext>
            </a:extLst>
          </p:cNvPr>
          <p:cNvGrpSpPr/>
          <p:nvPr/>
        </p:nvGrpSpPr>
        <p:grpSpPr>
          <a:xfrm>
            <a:off x="6801881" y="1649730"/>
            <a:ext cx="5197366" cy="4840664"/>
            <a:chOff x="6210300" y="3314700"/>
            <a:chExt cx="5600700" cy="3429000"/>
          </a:xfrm>
        </p:grpSpPr>
        <p:sp>
          <p:nvSpPr>
            <p:cNvPr id="105" name="Shape 52">
              <a:extLst>
                <a:ext uri="{FF2B5EF4-FFF2-40B4-BE49-F238E27FC236}">
                  <a16:creationId xmlns:a16="http://schemas.microsoft.com/office/drawing/2014/main" id="{285C1402-CA5F-93C9-8495-B515B37B6288}"/>
                </a:ext>
              </a:extLst>
            </p:cNvPr>
            <p:cNvSpPr/>
            <p:nvPr/>
          </p:nvSpPr>
          <p:spPr>
            <a:xfrm>
              <a:off x="6210300" y="3314700"/>
              <a:ext cx="5600700" cy="3429000"/>
            </a:xfrm>
            <a:custGeom>
              <a:avLst/>
              <a:gdLst/>
              <a:ahLst/>
              <a:cxnLst/>
              <a:rect l="l" t="t" r="r" b="b"/>
              <a:pathLst>
                <a:path w="5600700" h="3429000">
                  <a:moveTo>
                    <a:pt x="114289" y="0"/>
                  </a:moveTo>
                  <a:lnTo>
                    <a:pt x="5486411" y="0"/>
                  </a:lnTo>
                  <a:cubicBezTo>
                    <a:pt x="5549489" y="0"/>
                    <a:pt x="5600700" y="51211"/>
                    <a:pt x="5600700" y="114289"/>
                  </a:cubicBezTo>
                  <a:lnTo>
                    <a:pt x="5600700" y="3314711"/>
                  </a:lnTo>
                  <a:cubicBezTo>
                    <a:pt x="5600700" y="3377831"/>
                    <a:pt x="5549531" y="3429000"/>
                    <a:pt x="5486411" y="3429000"/>
                  </a:cubicBezTo>
                  <a:lnTo>
                    <a:pt x="114289" y="3429000"/>
                  </a:lnTo>
                  <a:cubicBezTo>
                    <a:pt x="51211" y="3429000"/>
                    <a:pt x="0" y="3377789"/>
                    <a:pt x="0" y="3314711"/>
                  </a:cubicBezTo>
                  <a:lnTo>
                    <a:pt x="0" y="114289"/>
                  </a:lnTo>
                  <a:cubicBezTo>
                    <a:pt x="0" y="51169"/>
                    <a:pt x="51169" y="0"/>
                    <a:pt x="114289" y="0"/>
                  </a:cubicBezTo>
                  <a:close/>
                </a:path>
              </a:pathLst>
            </a:custGeom>
            <a:solidFill>
              <a:srgbClr val="1A365D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6" name="Text 53">
              <a:extLst>
                <a:ext uri="{FF2B5EF4-FFF2-40B4-BE49-F238E27FC236}">
                  <a16:creationId xmlns:a16="http://schemas.microsoft.com/office/drawing/2014/main" id="{A40C7EFB-B984-8DCD-698D-61027C339257}"/>
                </a:ext>
              </a:extLst>
            </p:cNvPr>
            <p:cNvSpPr/>
            <p:nvPr/>
          </p:nvSpPr>
          <p:spPr>
            <a:xfrm>
              <a:off x="6324600" y="3467100"/>
              <a:ext cx="53721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Layered Architecture</a:t>
              </a:r>
              <a:endParaRPr lang="en-US" sz="2400" dirty="0"/>
            </a:p>
          </p:txBody>
        </p:sp>
        <p:sp>
          <p:nvSpPr>
            <p:cNvPr id="107" name="Shape 54">
              <a:extLst>
                <a:ext uri="{FF2B5EF4-FFF2-40B4-BE49-F238E27FC236}">
                  <a16:creationId xmlns:a16="http://schemas.microsoft.com/office/drawing/2014/main" id="{49F3A3A2-D665-3B6B-3ED8-58B7AF797137}"/>
                </a:ext>
              </a:extLst>
            </p:cNvPr>
            <p:cNvSpPr/>
            <p:nvPr/>
          </p:nvSpPr>
          <p:spPr>
            <a:xfrm>
              <a:off x="6362700" y="3810000"/>
              <a:ext cx="5295900" cy="495300"/>
            </a:xfrm>
            <a:custGeom>
              <a:avLst/>
              <a:gdLst/>
              <a:ahLst/>
              <a:cxnLst/>
              <a:rect l="l" t="t" r="r" b="b"/>
              <a:pathLst>
                <a:path w="5295900" h="495300">
                  <a:moveTo>
                    <a:pt x="76202" y="0"/>
                  </a:moveTo>
                  <a:lnTo>
                    <a:pt x="5219698" y="0"/>
                  </a:lnTo>
                  <a:cubicBezTo>
                    <a:pt x="5261783" y="0"/>
                    <a:pt x="5295900" y="34117"/>
                    <a:pt x="5295900" y="76202"/>
                  </a:cubicBezTo>
                  <a:lnTo>
                    <a:pt x="5295900" y="419098"/>
                  </a:lnTo>
                  <a:cubicBezTo>
                    <a:pt x="5295900" y="461183"/>
                    <a:pt x="5261783" y="495300"/>
                    <a:pt x="52196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2DD4BF"/>
            </a:solidFill>
            <a:ln/>
          </p:spPr>
        </p:sp>
        <p:sp>
          <p:nvSpPr>
            <p:cNvPr id="108" name="Text 55">
              <a:extLst>
                <a:ext uri="{FF2B5EF4-FFF2-40B4-BE49-F238E27FC236}">
                  <a16:creationId xmlns:a16="http://schemas.microsoft.com/office/drawing/2014/main" id="{23A9C008-D530-9101-D913-6582B0F4DABA}"/>
                </a:ext>
              </a:extLst>
            </p:cNvPr>
            <p:cNvSpPr/>
            <p:nvPr/>
          </p:nvSpPr>
          <p:spPr>
            <a:xfrm>
              <a:off x="6443663" y="3886200"/>
              <a:ext cx="51339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rgbClr val="1A365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Presentation Layer</a:t>
              </a:r>
              <a:endParaRPr lang="en-US" sz="2400" dirty="0"/>
            </a:p>
          </p:txBody>
        </p:sp>
        <p:sp>
          <p:nvSpPr>
            <p:cNvPr id="109" name="Text 56">
              <a:extLst>
                <a:ext uri="{FF2B5EF4-FFF2-40B4-BE49-F238E27FC236}">
                  <a16:creationId xmlns:a16="http://schemas.microsoft.com/office/drawing/2014/main" id="{2C865D7F-2D91-715C-8642-ACED03E62ED0}"/>
                </a:ext>
              </a:extLst>
            </p:cNvPr>
            <p:cNvSpPr/>
            <p:nvPr/>
          </p:nvSpPr>
          <p:spPr>
            <a:xfrm>
              <a:off x="6448425" y="4076700"/>
              <a:ext cx="51244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100" b="1" dirty="0">
                  <a:solidFill>
                    <a:srgbClr val="1A365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Streamlit Dashboard</a:t>
              </a:r>
              <a:endParaRPr lang="en-US" sz="2400" b="1" dirty="0"/>
            </a:p>
          </p:txBody>
        </p:sp>
        <p:sp>
          <p:nvSpPr>
            <p:cNvPr id="110" name="Shape 57">
              <a:extLst>
                <a:ext uri="{FF2B5EF4-FFF2-40B4-BE49-F238E27FC236}">
                  <a16:creationId xmlns:a16="http://schemas.microsoft.com/office/drawing/2014/main" id="{EB5650F5-3BF8-9D92-B82A-4A9E864B5F8D}"/>
                </a:ext>
              </a:extLst>
            </p:cNvPr>
            <p:cNvSpPr/>
            <p:nvPr/>
          </p:nvSpPr>
          <p:spPr>
            <a:xfrm rot="10800000">
              <a:off x="8967788" y="4381381"/>
              <a:ext cx="85726" cy="114300"/>
            </a:xfrm>
            <a:custGeom>
              <a:avLst/>
              <a:gdLst/>
              <a:ahLst/>
              <a:cxnLst/>
              <a:rect l="l" t="t" r="r" b="b"/>
              <a:pathLst>
                <a:path w="85725" h="114300">
                  <a:moveTo>
                    <a:pt x="37817" y="112202"/>
                  </a:moveTo>
                  <a:cubicBezTo>
                    <a:pt x="40608" y="114992"/>
                    <a:pt x="45140" y="114992"/>
                    <a:pt x="47930" y="112202"/>
                  </a:cubicBezTo>
                  <a:lnTo>
                    <a:pt x="83649" y="76483"/>
                  </a:lnTo>
                  <a:cubicBezTo>
                    <a:pt x="86439" y="73692"/>
                    <a:pt x="86439" y="69160"/>
                    <a:pt x="83649" y="66370"/>
                  </a:cubicBezTo>
                  <a:cubicBezTo>
                    <a:pt x="80858" y="63579"/>
                    <a:pt x="76327" y="63579"/>
                    <a:pt x="73536" y="66370"/>
                  </a:cubicBezTo>
                  <a:lnTo>
                    <a:pt x="50006" y="89900"/>
                  </a:lnTo>
                  <a:lnTo>
                    <a:pt x="50006" y="7144"/>
                  </a:lnTo>
                  <a:cubicBezTo>
                    <a:pt x="50006" y="3192"/>
                    <a:pt x="46814" y="0"/>
                    <a:pt x="42863" y="0"/>
                  </a:cubicBezTo>
                  <a:cubicBezTo>
                    <a:pt x="38911" y="0"/>
                    <a:pt x="35719" y="3192"/>
                    <a:pt x="35719" y="7144"/>
                  </a:cubicBezTo>
                  <a:lnTo>
                    <a:pt x="35719" y="89900"/>
                  </a:lnTo>
                  <a:lnTo>
                    <a:pt x="12189" y="66370"/>
                  </a:lnTo>
                  <a:cubicBezTo>
                    <a:pt x="9398" y="63579"/>
                    <a:pt x="4867" y="63579"/>
                    <a:pt x="2076" y="66370"/>
                  </a:cubicBezTo>
                  <a:cubicBezTo>
                    <a:pt x="-714" y="69160"/>
                    <a:pt x="-714" y="73692"/>
                    <a:pt x="2076" y="76483"/>
                  </a:cubicBezTo>
                  <a:lnTo>
                    <a:pt x="37795" y="112202"/>
                  </a:lnTo>
                  <a:close/>
                </a:path>
              </a:pathLst>
            </a:custGeom>
            <a:solidFill>
              <a:srgbClr val="94A3B8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1" name="Shape 58">
              <a:extLst>
                <a:ext uri="{FF2B5EF4-FFF2-40B4-BE49-F238E27FC236}">
                  <a16:creationId xmlns:a16="http://schemas.microsoft.com/office/drawing/2014/main" id="{6461E506-E286-39E9-3355-CCE7FD1E0AB8}"/>
                </a:ext>
              </a:extLst>
            </p:cNvPr>
            <p:cNvSpPr/>
            <p:nvPr/>
          </p:nvSpPr>
          <p:spPr>
            <a:xfrm>
              <a:off x="6362700" y="4571881"/>
              <a:ext cx="5295900" cy="495300"/>
            </a:xfrm>
            <a:custGeom>
              <a:avLst/>
              <a:gdLst/>
              <a:ahLst/>
              <a:cxnLst/>
              <a:rect l="l" t="t" r="r" b="b"/>
              <a:pathLst>
                <a:path w="5295900" h="495300">
                  <a:moveTo>
                    <a:pt x="76202" y="0"/>
                  </a:moveTo>
                  <a:lnTo>
                    <a:pt x="5219698" y="0"/>
                  </a:lnTo>
                  <a:cubicBezTo>
                    <a:pt x="5261783" y="0"/>
                    <a:pt x="5295900" y="34117"/>
                    <a:pt x="5295900" y="76202"/>
                  </a:cubicBezTo>
                  <a:lnTo>
                    <a:pt x="5295900" y="419098"/>
                  </a:lnTo>
                  <a:cubicBezTo>
                    <a:pt x="5295900" y="461183"/>
                    <a:pt x="5261783" y="495300"/>
                    <a:pt x="52196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0D9488"/>
            </a:solidFill>
            <a:ln/>
          </p:spPr>
        </p:sp>
        <p:sp>
          <p:nvSpPr>
            <p:cNvPr id="112" name="Text 59">
              <a:extLst>
                <a:ext uri="{FF2B5EF4-FFF2-40B4-BE49-F238E27FC236}">
                  <a16:creationId xmlns:a16="http://schemas.microsoft.com/office/drawing/2014/main" id="{75CE4AFB-3F74-CFDA-9815-F179E7369B77}"/>
                </a:ext>
              </a:extLst>
            </p:cNvPr>
            <p:cNvSpPr/>
            <p:nvPr/>
          </p:nvSpPr>
          <p:spPr>
            <a:xfrm>
              <a:off x="6443663" y="4648081"/>
              <a:ext cx="51339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AI/ML Layer</a:t>
              </a:r>
              <a:endParaRPr lang="en-US" sz="2400" dirty="0"/>
            </a:p>
          </p:txBody>
        </p:sp>
        <p:sp>
          <p:nvSpPr>
            <p:cNvPr id="113" name="Text 60">
              <a:extLst>
                <a:ext uri="{FF2B5EF4-FFF2-40B4-BE49-F238E27FC236}">
                  <a16:creationId xmlns:a16="http://schemas.microsoft.com/office/drawing/2014/main" id="{E1B775E8-62EC-1240-EF5A-5CBD5271B50F}"/>
                </a:ext>
              </a:extLst>
            </p:cNvPr>
            <p:cNvSpPr/>
            <p:nvPr/>
          </p:nvSpPr>
          <p:spPr>
            <a:xfrm>
              <a:off x="6448425" y="4838581"/>
              <a:ext cx="51244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Python ML models</a:t>
              </a:r>
              <a:endParaRPr lang="en-US" sz="2000" b="1" dirty="0"/>
            </a:p>
          </p:txBody>
        </p:sp>
        <p:sp>
          <p:nvSpPr>
            <p:cNvPr id="114" name="Shape 61">
              <a:extLst>
                <a:ext uri="{FF2B5EF4-FFF2-40B4-BE49-F238E27FC236}">
                  <a16:creationId xmlns:a16="http://schemas.microsoft.com/office/drawing/2014/main" id="{46C2090E-58FF-D88B-C0BC-F312CEDFE824}"/>
                </a:ext>
              </a:extLst>
            </p:cNvPr>
            <p:cNvSpPr/>
            <p:nvPr/>
          </p:nvSpPr>
          <p:spPr>
            <a:xfrm rot="10800000">
              <a:off x="8967788" y="5143263"/>
              <a:ext cx="85726" cy="114300"/>
            </a:xfrm>
            <a:custGeom>
              <a:avLst/>
              <a:gdLst/>
              <a:ahLst/>
              <a:cxnLst/>
              <a:rect l="l" t="t" r="r" b="b"/>
              <a:pathLst>
                <a:path w="85725" h="114300">
                  <a:moveTo>
                    <a:pt x="37817" y="112202"/>
                  </a:moveTo>
                  <a:cubicBezTo>
                    <a:pt x="40608" y="114992"/>
                    <a:pt x="45140" y="114992"/>
                    <a:pt x="47930" y="112202"/>
                  </a:cubicBezTo>
                  <a:lnTo>
                    <a:pt x="83649" y="76483"/>
                  </a:lnTo>
                  <a:cubicBezTo>
                    <a:pt x="86439" y="73692"/>
                    <a:pt x="86439" y="69160"/>
                    <a:pt x="83649" y="66370"/>
                  </a:cubicBezTo>
                  <a:cubicBezTo>
                    <a:pt x="80858" y="63579"/>
                    <a:pt x="76327" y="63579"/>
                    <a:pt x="73536" y="66370"/>
                  </a:cubicBezTo>
                  <a:lnTo>
                    <a:pt x="50006" y="89900"/>
                  </a:lnTo>
                  <a:lnTo>
                    <a:pt x="50006" y="7144"/>
                  </a:lnTo>
                  <a:cubicBezTo>
                    <a:pt x="50006" y="3192"/>
                    <a:pt x="46814" y="0"/>
                    <a:pt x="42863" y="0"/>
                  </a:cubicBezTo>
                  <a:cubicBezTo>
                    <a:pt x="38911" y="0"/>
                    <a:pt x="35719" y="3192"/>
                    <a:pt x="35719" y="7144"/>
                  </a:cubicBezTo>
                  <a:lnTo>
                    <a:pt x="35719" y="89900"/>
                  </a:lnTo>
                  <a:lnTo>
                    <a:pt x="12189" y="66370"/>
                  </a:lnTo>
                  <a:cubicBezTo>
                    <a:pt x="9398" y="63579"/>
                    <a:pt x="4867" y="63579"/>
                    <a:pt x="2076" y="66370"/>
                  </a:cubicBezTo>
                  <a:cubicBezTo>
                    <a:pt x="-714" y="69160"/>
                    <a:pt x="-714" y="73692"/>
                    <a:pt x="2076" y="76483"/>
                  </a:cubicBezTo>
                  <a:lnTo>
                    <a:pt x="37795" y="112202"/>
                  </a:lnTo>
                  <a:close/>
                </a:path>
              </a:pathLst>
            </a:custGeom>
            <a:solidFill>
              <a:srgbClr val="94A3B8"/>
            </a:solidFill>
            <a:ln/>
          </p:spPr>
        </p:sp>
        <p:sp>
          <p:nvSpPr>
            <p:cNvPr id="115" name="Shape 62">
              <a:extLst>
                <a:ext uri="{FF2B5EF4-FFF2-40B4-BE49-F238E27FC236}">
                  <a16:creationId xmlns:a16="http://schemas.microsoft.com/office/drawing/2014/main" id="{BAD7D607-658B-BE31-AF76-90A4477A8519}"/>
                </a:ext>
              </a:extLst>
            </p:cNvPr>
            <p:cNvSpPr/>
            <p:nvPr/>
          </p:nvSpPr>
          <p:spPr>
            <a:xfrm>
              <a:off x="6362700" y="5333763"/>
              <a:ext cx="5295900" cy="495300"/>
            </a:xfrm>
            <a:custGeom>
              <a:avLst/>
              <a:gdLst/>
              <a:ahLst/>
              <a:cxnLst/>
              <a:rect l="l" t="t" r="r" b="b"/>
              <a:pathLst>
                <a:path w="5295900" h="495300">
                  <a:moveTo>
                    <a:pt x="76202" y="0"/>
                  </a:moveTo>
                  <a:lnTo>
                    <a:pt x="5219698" y="0"/>
                  </a:lnTo>
                  <a:cubicBezTo>
                    <a:pt x="5261783" y="0"/>
                    <a:pt x="5295900" y="34117"/>
                    <a:pt x="5295900" y="76202"/>
                  </a:cubicBezTo>
                  <a:lnTo>
                    <a:pt x="5295900" y="419098"/>
                  </a:lnTo>
                  <a:cubicBezTo>
                    <a:pt x="5295900" y="461183"/>
                    <a:pt x="5261783" y="495300"/>
                    <a:pt x="52196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334155"/>
            </a:solidFill>
            <a:ln/>
          </p:spPr>
        </p:sp>
        <p:sp>
          <p:nvSpPr>
            <p:cNvPr id="116" name="Text 63">
              <a:extLst>
                <a:ext uri="{FF2B5EF4-FFF2-40B4-BE49-F238E27FC236}">
                  <a16:creationId xmlns:a16="http://schemas.microsoft.com/office/drawing/2014/main" id="{8BF58846-09F2-373C-C91A-C97E3D32DFF9}"/>
                </a:ext>
              </a:extLst>
            </p:cNvPr>
            <p:cNvSpPr/>
            <p:nvPr/>
          </p:nvSpPr>
          <p:spPr>
            <a:xfrm>
              <a:off x="6443663" y="5409963"/>
              <a:ext cx="5133975" cy="3424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Data Processing Layer</a:t>
              </a:r>
              <a:endParaRPr lang="en-US" sz="2400" dirty="0"/>
            </a:p>
          </p:txBody>
        </p:sp>
        <p:sp>
          <p:nvSpPr>
            <p:cNvPr id="117" name="Text 64">
              <a:extLst>
                <a:ext uri="{FF2B5EF4-FFF2-40B4-BE49-F238E27FC236}">
                  <a16:creationId xmlns:a16="http://schemas.microsoft.com/office/drawing/2014/main" id="{4BD04C4C-E70B-CE67-CA7F-20AF5297C82C}"/>
                </a:ext>
              </a:extLst>
            </p:cNvPr>
            <p:cNvSpPr/>
            <p:nvPr/>
          </p:nvSpPr>
          <p:spPr>
            <a:xfrm>
              <a:off x="6448425" y="5600463"/>
              <a:ext cx="51244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endParaRPr lang="en-US" sz="1600" dirty="0"/>
            </a:p>
          </p:txBody>
        </p:sp>
        <p:sp>
          <p:nvSpPr>
            <p:cNvPr id="118" name="Shape 65">
              <a:extLst>
                <a:ext uri="{FF2B5EF4-FFF2-40B4-BE49-F238E27FC236}">
                  <a16:creationId xmlns:a16="http://schemas.microsoft.com/office/drawing/2014/main" id="{ED9D0ECF-9AEF-11BB-9917-178E4CB0B843}"/>
                </a:ext>
              </a:extLst>
            </p:cNvPr>
            <p:cNvSpPr/>
            <p:nvPr/>
          </p:nvSpPr>
          <p:spPr>
            <a:xfrm rot="10800000">
              <a:off x="8967788" y="5905144"/>
              <a:ext cx="85726" cy="114300"/>
            </a:xfrm>
            <a:custGeom>
              <a:avLst/>
              <a:gdLst/>
              <a:ahLst/>
              <a:cxnLst/>
              <a:rect l="l" t="t" r="r" b="b"/>
              <a:pathLst>
                <a:path w="85725" h="114300">
                  <a:moveTo>
                    <a:pt x="37817" y="112202"/>
                  </a:moveTo>
                  <a:cubicBezTo>
                    <a:pt x="40608" y="114992"/>
                    <a:pt x="45140" y="114992"/>
                    <a:pt x="47930" y="112202"/>
                  </a:cubicBezTo>
                  <a:lnTo>
                    <a:pt x="83649" y="76483"/>
                  </a:lnTo>
                  <a:cubicBezTo>
                    <a:pt x="86439" y="73692"/>
                    <a:pt x="86439" y="69160"/>
                    <a:pt x="83649" y="66370"/>
                  </a:cubicBezTo>
                  <a:cubicBezTo>
                    <a:pt x="80858" y="63579"/>
                    <a:pt x="76327" y="63579"/>
                    <a:pt x="73536" y="66370"/>
                  </a:cubicBezTo>
                  <a:lnTo>
                    <a:pt x="50006" y="89900"/>
                  </a:lnTo>
                  <a:lnTo>
                    <a:pt x="50006" y="7144"/>
                  </a:lnTo>
                  <a:cubicBezTo>
                    <a:pt x="50006" y="3192"/>
                    <a:pt x="46814" y="0"/>
                    <a:pt x="42863" y="0"/>
                  </a:cubicBezTo>
                  <a:cubicBezTo>
                    <a:pt x="38911" y="0"/>
                    <a:pt x="35719" y="3192"/>
                    <a:pt x="35719" y="7144"/>
                  </a:cubicBezTo>
                  <a:lnTo>
                    <a:pt x="35719" y="89900"/>
                  </a:lnTo>
                  <a:lnTo>
                    <a:pt x="12189" y="66370"/>
                  </a:lnTo>
                  <a:cubicBezTo>
                    <a:pt x="9398" y="63579"/>
                    <a:pt x="4867" y="63579"/>
                    <a:pt x="2076" y="66370"/>
                  </a:cubicBezTo>
                  <a:cubicBezTo>
                    <a:pt x="-714" y="69160"/>
                    <a:pt x="-714" y="73692"/>
                    <a:pt x="2076" y="76483"/>
                  </a:cubicBezTo>
                  <a:lnTo>
                    <a:pt x="37795" y="112202"/>
                  </a:lnTo>
                  <a:close/>
                </a:path>
              </a:pathLst>
            </a:custGeom>
            <a:solidFill>
              <a:srgbClr val="94A3B8"/>
            </a:solidFill>
            <a:ln/>
          </p:spPr>
        </p:sp>
        <p:sp>
          <p:nvSpPr>
            <p:cNvPr id="119" name="Shape 66">
              <a:extLst>
                <a:ext uri="{FF2B5EF4-FFF2-40B4-BE49-F238E27FC236}">
                  <a16:creationId xmlns:a16="http://schemas.microsoft.com/office/drawing/2014/main" id="{8DB4C3A3-8F8F-B4A0-B0BC-32B8F3B7D6BD}"/>
                </a:ext>
              </a:extLst>
            </p:cNvPr>
            <p:cNvSpPr/>
            <p:nvPr/>
          </p:nvSpPr>
          <p:spPr>
            <a:xfrm>
              <a:off x="6362700" y="6095644"/>
              <a:ext cx="5295900" cy="495300"/>
            </a:xfrm>
            <a:custGeom>
              <a:avLst/>
              <a:gdLst/>
              <a:ahLst/>
              <a:cxnLst/>
              <a:rect l="l" t="t" r="r" b="b"/>
              <a:pathLst>
                <a:path w="5295900" h="495300">
                  <a:moveTo>
                    <a:pt x="76202" y="0"/>
                  </a:moveTo>
                  <a:lnTo>
                    <a:pt x="5219698" y="0"/>
                  </a:lnTo>
                  <a:cubicBezTo>
                    <a:pt x="5261783" y="0"/>
                    <a:pt x="5295900" y="34117"/>
                    <a:pt x="5295900" y="76202"/>
                  </a:cubicBezTo>
                  <a:lnTo>
                    <a:pt x="5295900" y="419098"/>
                  </a:lnTo>
                  <a:cubicBezTo>
                    <a:pt x="5295900" y="461183"/>
                    <a:pt x="5261783" y="495300"/>
                    <a:pt x="52196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475569"/>
            </a:solidFill>
            <a:ln/>
          </p:spPr>
        </p:sp>
        <p:sp>
          <p:nvSpPr>
            <p:cNvPr id="120" name="Text 67">
              <a:extLst>
                <a:ext uri="{FF2B5EF4-FFF2-40B4-BE49-F238E27FC236}">
                  <a16:creationId xmlns:a16="http://schemas.microsoft.com/office/drawing/2014/main" id="{B2E5A7C5-DE15-636A-3A11-62D50D035435}"/>
                </a:ext>
              </a:extLst>
            </p:cNvPr>
            <p:cNvSpPr/>
            <p:nvPr/>
          </p:nvSpPr>
          <p:spPr>
            <a:xfrm>
              <a:off x="6443663" y="6171844"/>
              <a:ext cx="51339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Data Sources Layer</a:t>
              </a:r>
              <a:endParaRPr lang="en-US" sz="2400" dirty="0"/>
            </a:p>
          </p:txBody>
        </p:sp>
        <p:sp>
          <p:nvSpPr>
            <p:cNvPr id="121" name="Text 68">
              <a:extLst>
                <a:ext uri="{FF2B5EF4-FFF2-40B4-BE49-F238E27FC236}">
                  <a16:creationId xmlns:a16="http://schemas.microsoft.com/office/drawing/2014/main" id="{95E060EE-58B3-0383-5462-F2C372C720B0}"/>
                </a:ext>
              </a:extLst>
            </p:cNvPr>
            <p:cNvSpPr/>
            <p:nvPr/>
          </p:nvSpPr>
          <p:spPr>
            <a:xfrm>
              <a:off x="6448425" y="6362344"/>
              <a:ext cx="51244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SOCMINT, CYBINT, GEOINT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11267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22F5-6D7D-4227-85D7-16B67B05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500E9-734C-CAA0-17FE-17689353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22EA4-B1F6-34D3-5626-416BFEC9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6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3CC82AE6-9D2A-2D88-F491-8203880CCB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065C8CE-28F6-0C6B-338C-C3B5B298F96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49D56B7-D53C-011E-2F3F-D5AD326BEFE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6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E64D2BE9-CE4D-7481-3EE6-3ABA5F7F9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D1D958-30C5-BFBB-4704-8AA5760A3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8B59F7-E15D-2790-BD01-92549C8BD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C28E2-5885-1FB9-C717-8250B26F451A}"/>
              </a:ext>
            </a:extLst>
          </p:cNvPr>
          <p:cNvSpPr txBox="1"/>
          <p:nvPr/>
        </p:nvSpPr>
        <p:spPr>
          <a:xfrm>
            <a:off x="3436884" y="367607"/>
            <a:ext cx="5483596" cy="6393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>
                <a:latin typeface="Arial Rounded MT Bold" panose="020F0704030504030204" pitchFamily="34" charset="0"/>
              </a:rPr>
              <a:t>Features &amp; Functionalities</a:t>
            </a:r>
            <a:endParaRPr lang="en-US" sz="3000" b="1" kern="1200" dirty="0">
              <a:solidFill>
                <a:schemeClr val="tx2"/>
              </a:solidFill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A18811A-4F8E-2836-EF90-7221277EF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E2B4672F-F1C3-2CFE-B3D1-6509F2ED93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CC37C06D-DFF9-BC83-B432-49605D4FF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5CA88AC1-9155-569A-E5BF-6E8E1C824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7AA4055F-FF3F-644A-E624-DD0C52567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58A6E750-84CF-ABE6-EFC6-FB0465DF5B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75C741BE-C4AB-E613-A2EB-9F3D7D425B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E57456-7DB2-D9E0-3DC1-538B620CB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6ADB1A64-E449-E424-9C0D-1AF876BDF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52BB634-DB1D-6842-4281-027496EA2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BBD6908A-5E17-7977-6487-318FB3DA3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01A557D7-B7C4-85B2-1FB2-6EA251876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6F93DC9F-B0C2-003C-927D-41C7D7DB01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30" name="Rectangle 1">
            <a:extLst>
              <a:ext uri="{FF2B5EF4-FFF2-40B4-BE49-F238E27FC236}">
                <a16:creationId xmlns:a16="http://schemas.microsoft.com/office/drawing/2014/main" id="{5BEAF302-5E98-46F9-FFE6-C9020FFAC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609" y="4921434"/>
            <a:ext cx="10871438" cy="1636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3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CYBINT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Malicious IP clustering, attack-origin heatmaps, and TTPs fingerprinting.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3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SOCINT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NLP headline analysis, disinformation tagging, and influence-op detection.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3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GEOINT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spatial clustering and anomaly zone mapping.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3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Automated Briefings: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LLM-generated, analyst-ready briefings to replace hours of manual reporting.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3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Interactive Interface: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Live Streamlit dashboard rendering interactive world threat maps.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FD8B3F4-1676-4A60-EB4D-5B1318DD2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610" y="1670719"/>
            <a:ext cx="5593781" cy="288377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44B830F-EF7B-93F9-F906-95133D563A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609" y="1669804"/>
            <a:ext cx="5189554" cy="286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3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B8961-0E57-6CF4-6A2E-6E3844CE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F5FA-4F07-3415-25E3-C29F21EF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8901C-CFCA-5956-3989-DB48B37B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808F960A-289C-591A-BEEA-F0564F0CC1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F7CB260-476E-D58E-6C85-22C5CE0DCD3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CA2909C-E433-498A-659E-70C518245CC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7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42675280-1BA9-C78D-15BD-C603CC170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E0B5CAE-859F-2E56-77C1-EEF4164DD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52D47E-A735-DAB0-DB53-2B7823EA2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126AD-F670-1E1A-0DD5-7E5F8DE779B0}"/>
              </a:ext>
            </a:extLst>
          </p:cNvPr>
          <p:cNvSpPr txBox="1"/>
          <p:nvPr/>
        </p:nvSpPr>
        <p:spPr>
          <a:xfrm>
            <a:off x="3436883" y="367607"/>
            <a:ext cx="5776065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>
                <a:latin typeface="Arial Rounded MT Bold" panose="020F0704030504030204" pitchFamily="34" charset="0"/>
              </a:rPr>
              <a:t>Implementation Roadmap</a:t>
            </a:r>
            <a:endParaRPr lang="en-US" sz="3000" b="1" kern="1200" dirty="0">
              <a:solidFill>
                <a:schemeClr val="tx2"/>
              </a:solidFill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08DE12-9223-0B45-7844-C8442188B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C6B389A5-57A1-5BDD-19D5-935489A75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D47C928B-E00F-1E52-C717-07A5AAF02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7CA94AD0-2C13-149F-27C4-C1BF48D92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81292ABA-6799-0521-BC93-F47A7A145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52C4D73F-1345-3CA9-C6C5-8928CA105E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06788EA6-29B6-4A1B-6379-A0B95808548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64AE98E-B324-7FD5-5724-C47113E82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93A260AE-0C5C-4CC3-70C4-9D528AE9D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F824AC28-C4B1-F6B1-6402-A3E6B78AF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1E9727E5-F04D-5242-381E-4D642EBCF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E7132A91-975B-8373-609C-1F7963E8D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62CCCF5C-DE08-D2D7-6A05-49C3680CB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4F582E29-DA06-B1C0-4E00-F219D55937D9}"/>
              </a:ext>
            </a:extLst>
          </p:cNvPr>
          <p:cNvGrpSpPr/>
          <p:nvPr/>
        </p:nvGrpSpPr>
        <p:grpSpPr>
          <a:xfrm>
            <a:off x="152247" y="2819069"/>
            <a:ext cx="11887200" cy="3891280"/>
            <a:chOff x="142240" y="2235200"/>
            <a:chExt cx="11887200" cy="343741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F96AAD9-24DA-B9AF-49F7-3C952133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61" t="13105" r="1639" b="3873"/>
            <a:stretch>
              <a:fillRect/>
            </a:stretch>
          </p:blipFill>
          <p:spPr>
            <a:xfrm>
              <a:off x="142240" y="2235200"/>
              <a:ext cx="11887200" cy="343741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EF2D1B1-0064-E449-A11D-098319774C97}"/>
                </a:ext>
              </a:extLst>
            </p:cNvPr>
            <p:cNvSpPr/>
            <p:nvPr/>
          </p:nvSpPr>
          <p:spPr>
            <a:xfrm>
              <a:off x="179799" y="2244241"/>
              <a:ext cx="1801401" cy="574828"/>
            </a:xfrm>
            <a:prstGeom prst="rect">
              <a:avLst/>
            </a:prstGeom>
            <a:solidFill>
              <a:srgbClr val="11224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PHASE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187781D-B292-103F-2050-85EE95BA080F}"/>
                </a:ext>
              </a:extLst>
            </p:cNvPr>
            <p:cNvSpPr/>
            <p:nvPr/>
          </p:nvSpPr>
          <p:spPr>
            <a:xfrm>
              <a:off x="1981200" y="2253040"/>
              <a:ext cx="4795520" cy="574828"/>
            </a:xfrm>
            <a:prstGeom prst="rect">
              <a:avLst/>
            </a:prstGeom>
            <a:solidFill>
              <a:srgbClr val="11224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MILESTONE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C08A4F3-4BDD-C37B-3BC9-B015523ECD0F}"/>
                </a:ext>
              </a:extLst>
            </p:cNvPr>
            <p:cNvSpPr/>
            <p:nvPr/>
          </p:nvSpPr>
          <p:spPr>
            <a:xfrm>
              <a:off x="6776720" y="2253040"/>
              <a:ext cx="3434080" cy="574828"/>
            </a:xfrm>
            <a:prstGeom prst="rect">
              <a:avLst/>
            </a:prstGeom>
            <a:solidFill>
              <a:srgbClr val="11224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TECHNOLOGY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E8E7F6-04B8-7436-75AC-A14E46F8A853}"/>
                </a:ext>
              </a:extLst>
            </p:cNvPr>
            <p:cNvSpPr/>
            <p:nvPr/>
          </p:nvSpPr>
          <p:spPr>
            <a:xfrm>
              <a:off x="10191675" y="2244241"/>
              <a:ext cx="1801401" cy="574828"/>
            </a:xfrm>
            <a:prstGeom prst="rect">
              <a:avLst/>
            </a:prstGeom>
            <a:solidFill>
              <a:srgbClr val="11224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TIMELINE</a:t>
              </a:r>
            </a:p>
          </p:txBody>
        </p:sp>
      </p:grpSp>
      <p:sp>
        <p:nvSpPr>
          <p:cNvPr id="36" name="Rectangle 4">
            <a:extLst>
              <a:ext uri="{FF2B5EF4-FFF2-40B4-BE49-F238E27FC236}">
                <a16:creationId xmlns:a16="http://schemas.microsoft.com/office/drawing/2014/main" id="{F0A115C8-5767-5919-DE2A-3C623BF14B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2247" y="1390826"/>
            <a:ext cx="1185083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roadmap outlines our platform's evolution from the completed multi-domain MVP to a cloud-native National Security SaaS platform by Q3 2026.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Upcoming phases will integrate dark web OSINT, satellite imagery, and transformer models to shift our capabilities from real-time detection to predictive conflict forecasting.</a:t>
            </a:r>
          </a:p>
        </p:txBody>
      </p:sp>
    </p:spTree>
    <p:extLst>
      <p:ext uri="{BB962C8B-B14F-4D97-AF65-F5344CB8AC3E}">
        <p14:creationId xmlns:p14="http://schemas.microsoft.com/office/powerpoint/2010/main" val="1122582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525</Words>
  <Application>Microsoft Office PowerPoint</Application>
  <PresentationFormat>Widescreen</PresentationFormat>
  <Paragraphs>122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Arial Rounded MT Bold</vt:lpstr>
      <vt:lpstr>Bahnschrift</vt:lpstr>
      <vt:lpstr>Bahnschrift Light</vt:lpstr>
      <vt:lpstr>Calibri</vt:lpstr>
      <vt:lpstr>Calibri Light</vt:lpstr>
      <vt:lpstr>Liter</vt:lpstr>
      <vt:lpstr>Wingdings</vt:lpstr>
      <vt:lpstr>Office Theme</vt:lpstr>
      <vt:lpstr>PowerPoint Presentation</vt:lpstr>
      <vt:lpstr>Problem Statement</vt:lpstr>
      <vt:lpstr>Proposed Solution / Idea</vt:lpstr>
      <vt:lpstr>Proposed Solution / Idea</vt:lpstr>
      <vt:lpstr>Proposed Solution / Idea</vt:lpstr>
      <vt:lpstr>Proposed Solution / Idea</vt:lpstr>
      <vt:lpstr>Proposed Solution / Idea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khushwant virdi</dc:creator>
  <cp:lastModifiedBy>Ishita Sharma</cp:lastModifiedBy>
  <cp:revision>27</cp:revision>
  <dcterms:created xsi:type="dcterms:W3CDTF">2025-09-03T04:31:11Z</dcterms:created>
  <dcterms:modified xsi:type="dcterms:W3CDTF">2026-04-10T23:38:23Z</dcterms:modified>
</cp:coreProperties>
</file>